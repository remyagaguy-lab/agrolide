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40"/>
  </p:notesMasterIdLst>
  <p:sldIdLst>
    <p:sldId id="257" r:id="rId2"/>
    <p:sldId id="279" r:id="rId3"/>
    <p:sldId id="258" r:id="rId4"/>
    <p:sldId id="285" r:id="rId5"/>
    <p:sldId id="305" r:id="rId6"/>
    <p:sldId id="260" r:id="rId7"/>
    <p:sldId id="304" r:id="rId8"/>
    <p:sldId id="281" r:id="rId9"/>
    <p:sldId id="283" r:id="rId10"/>
    <p:sldId id="284" r:id="rId11"/>
    <p:sldId id="262" r:id="rId12"/>
    <p:sldId id="286" r:id="rId13"/>
    <p:sldId id="287" r:id="rId14"/>
    <p:sldId id="288" r:id="rId15"/>
    <p:sldId id="295" r:id="rId16"/>
    <p:sldId id="264" r:id="rId17"/>
    <p:sldId id="289" r:id="rId18"/>
    <p:sldId id="302" r:id="rId19"/>
    <p:sldId id="265" r:id="rId20"/>
    <p:sldId id="266" r:id="rId21"/>
    <p:sldId id="269" r:id="rId22"/>
    <p:sldId id="267" r:id="rId23"/>
    <p:sldId id="290" r:id="rId24"/>
    <p:sldId id="291" r:id="rId25"/>
    <p:sldId id="292" r:id="rId26"/>
    <p:sldId id="293" r:id="rId27"/>
    <p:sldId id="294" r:id="rId28"/>
    <p:sldId id="274" r:id="rId29"/>
    <p:sldId id="275" r:id="rId30"/>
    <p:sldId id="296" r:id="rId31"/>
    <p:sldId id="297" r:id="rId32"/>
    <p:sldId id="301" r:id="rId33"/>
    <p:sldId id="276" r:id="rId34"/>
    <p:sldId id="298" r:id="rId35"/>
    <p:sldId id="299" r:id="rId36"/>
    <p:sldId id="300" r:id="rId37"/>
    <p:sldId id="303" r:id="rId38"/>
    <p:sldId id="278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F8055-EC1A-449E-85F6-D49389443BCA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D1CABD44-A483-4511-82C7-8019765FBE7B}">
      <dgm:prSet phldrT="[Texte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fr-FR" sz="2400" dirty="0"/>
            <a:t>les réformes </a:t>
          </a:r>
          <a:r>
            <a:rPr lang="fr-FR" sz="2400" dirty="0" err="1"/>
            <a:t>curriculaires</a:t>
          </a:r>
          <a:r>
            <a:rPr lang="fr-FR" sz="2400" dirty="0"/>
            <a:t> au primaire et au premier cycle du secondaire, la politique des sous-cycles, la politique d’alimentation scolaire, la politique enseignante, la stratégie de développement de l’ETFP, la loi d’orientation de l’enseignement supérieur, l’adoption de la stratégie du faire faire en alphabétisation</a:t>
          </a:r>
          <a:r>
            <a:rPr lang="fr-FR" sz="2000" dirty="0"/>
            <a:t>,…. </a:t>
          </a:r>
        </a:p>
      </dgm:t>
    </dgm:pt>
    <dgm:pt modelId="{580EA69A-5A14-4DBB-AC96-FBD9E3026908}" type="parTrans" cxnId="{ECB6EDDE-5B3F-4B84-A576-F23B5C134E76}">
      <dgm:prSet/>
      <dgm:spPr/>
      <dgm:t>
        <a:bodyPr/>
        <a:lstStyle/>
        <a:p>
          <a:endParaRPr lang="fr-FR"/>
        </a:p>
      </dgm:t>
    </dgm:pt>
    <dgm:pt modelId="{FA4FE884-F8F3-4A81-8C4A-7D8EEEE08F73}" type="sibTrans" cxnId="{ECB6EDDE-5B3F-4B84-A576-F23B5C134E76}">
      <dgm:prSet/>
      <dgm:spPr/>
      <dgm:t>
        <a:bodyPr/>
        <a:lstStyle/>
        <a:p>
          <a:endParaRPr lang="fr-FR"/>
        </a:p>
      </dgm:t>
    </dgm:pt>
    <dgm:pt modelId="{356D1C87-1D8D-4BDB-A159-ED57C8AD85D2}">
      <dgm:prSet phldrT="[Texte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- </a:t>
          </a:r>
          <a:r>
            <a:rPr lang="fr-FR" b="1" dirty="0"/>
            <a:t>La vision 2030 </a:t>
          </a:r>
          <a:r>
            <a:rPr lang="fr-FR" dirty="0"/>
            <a:t>du Chef de l’Etat </a:t>
          </a:r>
        </a:p>
        <a:p>
          <a:r>
            <a:rPr lang="fr-FR" dirty="0"/>
            <a:t>- </a:t>
          </a:r>
          <a:r>
            <a:rPr lang="fr-FR" b="1" dirty="0"/>
            <a:t>Le PND </a:t>
          </a:r>
          <a:r>
            <a:rPr lang="fr-FR" dirty="0"/>
            <a:t>avec son axe 3 dont le but est de renforcer les capacités institutionnelles et humaines appropriées pour relever les défis de développement du Togo.</a:t>
          </a:r>
        </a:p>
      </dgm:t>
    </dgm:pt>
    <dgm:pt modelId="{72A71694-93CB-4D82-A910-5D40146E0672}" type="parTrans" cxnId="{C61614C3-B350-4268-A5EA-83E6844653D1}">
      <dgm:prSet/>
      <dgm:spPr/>
      <dgm:t>
        <a:bodyPr/>
        <a:lstStyle/>
        <a:p>
          <a:endParaRPr lang="fr-FR"/>
        </a:p>
      </dgm:t>
    </dgm:pt>
    <dgm:pt modelId="{6FDBC98C-0F10-4465-B6CD-7CFDB8D9E53F}" type="sibTrans" cxnId="{C61614C3-B350-4268-A5EA-83E6844653D1}">
      <dgm:prSet/>
      <dgm:spPr/>
      <dgm:t>
        <a:bodyPr/>
        <a:lstStyle/>
        <a:p>
          <a:endParaRPr lang="fr-FR"/>
        </a:p>
      </dgm:t>
    </dgm:pt>
    <dgm:pt modelId="{FD9AC569-0273-4DAA-B6F7-4E42E558C807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marL="0" indent="0"/>
          <a:r>
            <a:rPr lang="fr-FR" dirty="0"/>
            <a:t>- </a:t>
          </a:r>
          <a:r>
            <a:rPr lang="fr-FR" b="1" dirty="0"/>
            <a:t>L’Agenda 2063 </a:t>
          </a:r>
          <a:r>
            <a:rPr lang="fr-FR" dirty="0"/>
            <a:t>de l’Union Africaine</a:t>
          </a:r>
        </a:p>
        <a:p>
          <a:r>
            <a:rPr lang="fr-FR" dirty="0"/>
            <a:t>- </a:t>
          </a:r>
          <a:r>
            <a:rPr lang="fr-FR" b="1" dirty="0"/>
            <a:t>L’ODD4</a:t>
          </a:r>
          <a:r>
            <a:rPr lang="fr-FR" dirty="0"/>
            <a:t> : «</a:t>
          </a:r>
          <a:r>
            <a:rPr lang="fr-FR" i="1" dirty="0"/>
            <a:t>assurer une éducation inclusive et équitable de qualité et promouvoir des possibilités d’apprentissage tout au long de la vie pour tous »</a:t>
          </a:r>
          <a:r>
            <a:rPr lang="fr-FR" dirty="0"/>
            <a:t> </a:t>
          </a:r>
        </a:p>
      </dgm:t>
    </dgm:pt>
    <dgm:pt modelId="{DBFE5E6E-64BD-4F2D-8867-F633ABD1F899}" type="parTrans" cxnId="{DBA88964-1BC1-460B-8EFF-2246DB7BCB32}">
      <dgm:prSet/>
      <dgm:spPr/>
      <dgm:t>
        <a:bodyPr/>
        <a:lstStyle/>
        <a:p>
          <a:endParaRPr lang="fr-FR"/>
        </a:p>
      </dgm:t>
    </dgm:pt>
    <dgm:pt modelId="{9A4BBABC-8679-4EF7-A7FE-0424FE9C12A8}" type="sibTrans" cxnId="{DBA88964-1BC1-460B-8EFF-2246DB7BCB32}">
      <dgm:prSet/>
      <dgm:spPr/>
      <dgm:t>
        <a:bodyPr/>
        <a:lstStyle/>
        <a:p>
          <a:endParaRPr lang="fr-FR"/>
        </a:p>
      </dgm:t>
    </dgm:pt>
    <dgm:pt modelId="{45AEF698-BDFF-48E6-904D-EC3872218F34}" type="pres">
      <dgm:prSet presAssocID="{6D4F8055-EC1A-449E-85F6-D49389443BCA}" presName="Name0" presStyleCnt="0">
        <dgm:presLayoutVars>
          <dgm:chMax val="7"/>
          <dgm:chPref val="7"/>
          <dgm:dir/>
        </dgm:presLayoutVars>
      </dgm:prSet>
      <dgm:spPr/>
    </dgm:pt>
    <dgm:pt modelId="{2AE91DCC-7002-4960-B104-E9DC2D42835D}" type="pres">
      <dgm:prSet presAssocID="{6D4F8055-EC1A-449E-85F6-D49389443BCA}" presName="Name1" presStyleCnt="0"/>
      <dgm:spPr/>
    </dgm:pt>
    <dgm:pt modelId="{4B1031C7-C523-4219-8A2A-D48227236EA8}" type="pres">
      <dgm:prSet presAssocID="{6D4F8055-EC1A-449E-85F6-D49389443BCA}" presName="cycle" presStyleCnt="0"/>
      <dgm:spPr/>
    </dgm:pt>
    <dgm:pt modelId="{9836EF11-4FB4-4C81-BAA8-883431AA2465}" type="pres">
      <dgm:prSet presAssocID="{6D4F8055-EC1A-449E-85F6-D49389443BCA}" presName="srcNode" presStyleLbl="node1" presStyleIdx="0" presStyleCnt="3"/>
      <dgm:spPr/>
    </dgm:pt>
    <dgm:pt modelId="{B4E446BE-2588-4765-8F19-52B7D148CF9C}" type="pres">
      <dgm:prSet presAssocID="{6D4F8055-EC1A-449E-85F6-D49389443BCA}" presName="conn" presStyleLbl="parChTrans1D2" presStyleIdx="0" presStyleCnt="1"/>
      <dgm:spPr/>
    </dgm:pt>
    <dgm:pt modelId="{01538D16-7FE5-4E34-9344-D399D388DD3B}" type="pres">
      <dgm:prSet presAssocID="{6D4F8055-EC1A-449E-85F6-D49389443BCA}" presName="extraNode" presStyleLbl="node1" presStyleIdx="0" presStyleCnt="3"/>
      <dgm:spPr/>
    </dgm:pt>
    <dgm:pt modelId="{251E3FE7-DDA2-4DDC-9B1F-985C074FD558}" type="pres">
      <dgm:prSet presAssocID="{6D4F8055-EC1A-449E-85F6-D49389443BCA}" presName="dstNode" presStyleLbl="node1" presStyleIdx="0" presStyleCnt="3"/>
      <dgm:spPr/>
    </dgm:pt>
    <dgm:pt modelId="{BC4683F6-79B8-4FFD-8544-7BFEBCEE9777}" type="pres">
      <dgm:prSet presAssocID="{D1CABD44-A483-4511-82C7-8019765FBE7B}" presName="text_1" presStyleLbl="node1" presStyleIdx="0" presStyleCnt="3" custScaleX="98643" custScaleY="145790" custLinFactNeighborX="872" custLinFactNeighborY="-2379">
        <dgm:presLayoutVars>
          <dgm:bulletEnabled val="1"/>
        </dgm:presLayoutVars>
      </dgm:prSet>
      <dgm:spPr/>
    </dgm:pt>
    <dgm:pt modelId="{DF0483EA-DDBA-47D4-9742-A2FA2AC21200}" type="pres">
      <dgm:prSet presAssocID="{D1CABD44-A483-4511-82C7-8019765FBE7B}" presName="accent_1" presStyleCnt="0"/>
      <dgm:spPr/>
    </dgm:pt>
    <dgm:pt modelId="{CB3C55A9-66CB-484A-ACAB-A4DCF00181CC}" type="pres">
      <dgm:prSet presAssocID="{D1CABD44-A483-4511-82C7-8019765FBE7B}" presName="accentRepeatNode" presStyleLbl="solidFgAcc1" presStyleIdx="0" presStyleCnt="3"/>
      <dgm:spPr/>
    </dgm:pt>
    <dgm:pt modelId="{37394609-BB2E-40D4-BBB1-D3A8570A436C}" type="pres">
      <dgm:prSet presAssocID="{356D1C87-1D8D-4BDB-A159-ED57C8AD85D2}" presName="text_2" presStyleLbl="node1" presStyleIdx="1" presStyleCnt="3">
        <dgm:presLayoutVars>
          <dgm:bulletEnabled val="1"/>
        </dgm:presLayoutVars>
      </dgm:prSet>
      <dgm:spPr/>
    </dgm:pt>
    <dgm:pt modelId="{6C3A1712-337D-4C21-8842-F78C40FDF083}" type="pres">
      <dgm:prSet presAssocID="{356D1C87-1D8D-4BDB-A159-ED57C8AD85D2}" presName="accent_2" presStyleCnt="0"/>
      <dgm:spPr/>
    </dgm:pt>
    <dgm:pt modelId="{7C9EFF93-D619-441B-B280-BDA12C7D8E2A}" type="pres">
      <dgm:prSet presAssocID="{356D1C87-1D8D-4BDB-A159-ED57C8AD85D2}" presName="accentRepeatNode" presStyleLbl="solidFgAcc1" presStyleIdx="1" presStyleCnt="3"/>
      <dgm:spPr/>
    </dgm:pt>
    <dgm:pt modelId="{C29665CA-FAE9-45EA-8E14-BB14E579E150}" type="pres">
      <dgm:prSet presAssocID="{FD9AC569-0273-4DAA-B6F7-4E42E558C807}" presName="text_3" presStyleLbl="node1" presStyleIdx="2" presStyleCnt="3" custScaleX="98213" custScaleY="133221" custLinFactNeighborX="778" custLinFactNeighborY="8836">
        <dgm:presLayoutVars>
          <dgm:bulletEnabled val="1"/>
        </dgm:presLayoutVars>
      </dgm:prSet>
      <dgm:spPr/>
    </dgm:pt>
    <dgm:pt modelId="{7119A302-45CC-4D53-A198-C12F3BB7E745}" type="pres">
      <dgm:prSet presAssocID="{FD9AC569-0273-4DAA-B6F7-4E42E558C807}" presName="accent_3" presStyleCnt="0"/>
      <dgm:spPr/>
    </dgm:pt>
    <dgm:pt modelId="{3648DEC2-497C-4652-AC5A-3FD36FDE4841}" type="pres">
      <dgm:prSet presAssocID="{FD9AC569-0273-4DAA-B6F7-4E42E558C807}" presName="accentRepeatNode" presStyleLbl="solidFgAcc1" presStyleIdx="2" presStyleCnt="3" custLinFactNeighborX="980"/>
      <dgm:spPr/>
    </dgm:pt>
  </dgm:ptLst>
  <dgm:cxnLst>
    <dgm:cxn modelId="{DBA88964-1BC1-460B-8EFF-2246DB7BCB32}" srcId="{6D4F8055-EC1A-449E-85F6-D49389443BCA}" destId="{FD9AC569-0273-4DAA-B6F7-4E42E558C807}" srcOrd="2" destOrd="0" parTransId="{DBFE5E6E-64BD-4F2D-8867-F633ABD1F899}" sibTransId="{9A4BBABC-8679-4EF7-A7FE-0424FE9C12A8}"/>
    <dgm:cxn modelId="{FB0D7C81-DC8E-4FB0-9530-4BC7AC6770C9}" type="presOf" srcId="{356D1C87-1D8D-4BDB-A159-ED57C8AD85D2}" destId="{37394609-BB2E-40D4-BBB1-D3A8570A436C}" srcOrd="0" destOrd="0" presId="urn:microsoft.com/office/officeart/2008/layout/VerticalCurvedList"/>
    <dgm:cxn modelId="{07EAEF94-CE22-4AE6-9DBF-5A115D317892}" type="presOf" srcId="{D1CABD44-A483-4511-82C7-8019765FBE7B}" destId="{BC4683F6-79B8-4FFD-8544-7BFEBCEE9777}" srcOrd="0" destOrd="0" presId="urn:microsoft.com/office/officeart/2008/layout/VerticalCurvedList"/>
    <dgm:cxn modelId="{EFB8FBA5-B7C5-4DDB-9258-FDDB7B6AD275}" type="presOf" srcId="{6D4F8055-EC1A-449E-85F6-D49389443BCA}" destId="{45AEF698-BDFF-48E6-904D-EC3872218F34}" srcOrd="0" destOrd="0" presId="urn:microsoft.com/office/officeart/2008/layout/VerticalCurvedList"/>
    <dgm:cxn modelId="{C40D67B0-55EF-4EF8-A128-7F5F7C1B2124}" type="presOf" srcId="{FD9AC569-0273-4DAA-B6F7-4E42E558C807}" destId="{C29665CA-FAE9-45EA-8E14-BB14E579E150}" srcOrd="0" destOrd="0" presId="urn:microsoft.com/office/officeart/2008/layout/VerticalCurvedList"/>
    <dgm:cxn modelId="{C61614C3-B350-4268-A5EA-83E6844653D1}" srcId="{6D4F8055-EC1A-449E-85F6-D49389443BCA}" destId="{356D1C87-1D8D-4BDB-A159-ED57C8AD85D2}" srcOrd="1" destOrd="0" parTransId="{72A71694-93CB-4D82-A910-5D40146E0672}" sibTransId="{6FDBC98C-0F10-4465-B6CD-7CFDB8D9E53F}"/>
    <dgm:cxn modelId="{699A66C3-4C8E-4B64-AA76-FB54E12552FE}" type="presOf" srcId="{FA4FE884-F8F3-4A81-8C4A-7D8EEEE08F73}" destId="{B4E446BE-2588-4765-8F19-52B7D148CF9C}" srcOrd="0" destOrd="0" presId="urn:microsoft.com/office/officeart/2008/layout/VerticalCurvedList"/>
    <dgm:cxn modelId="{ECB6EDDE-5B3F-4B84-A576-F23B5C134E76}" srcId="{6D4F8055-EC1A-449E-85F6-D49389443BCA}" destId="{D1CABD44-A483-4511-82C7-8019765FBE7B}" srcOrd="0" destOrd="0" parTransId="{580EA69A-5A14-4DBB-AC96-FBD9E3026908}" sibTransId="{FA4FE884-F8F3-4A81-8C4A-7D8EEEE08F73}"/>
    <dgm:cxn modelId="{86E40916-8AFC-4CDE-9A62-1F3D5B776F73}" type="presParOf" srcId="{45AEF698-BDFF-48E6-904D-EC3872218F34}" destId="{2AE91DCC-7002-4960-B104-E9DC2D42835D}" srcOrd="0" destOrd="0" presId="urn:microsoft.com/office/officeart/2008/layout/VerticalCurvedList"/>
    <dgm:cxn modelId="{0E78FBB8-7F4A-4201-B81B-ABCDB18EDF31}" type="presParOf" srcId="{2AE91DCC-7002-4960-B104-E9DC2D42835D}" destId="{4B1031C7-C523-4219-8A2A-D48227236EA8}" srcOrd="0" destOrd="0" presId="urn:microsoft.com/office/officeart/2008/layout/VerticalCurvedList"/>
    <dgm:cxn modelId="{3E741240-2268-4689-9A9C-9EDCD95927BC}" type="presParOf" srcId="{4B1031C7-C523-4219-8A2A-D48227236EA8}" destId="{9836EF11-4FB4-4C81-BAA8-883431AA2465}" srcOrd="0" destOrd="0" presId="urn:microsoft.com/office/officeart/2008/layout/VerticalCurvedList"/>
    <dgm:cxn modelId="{4E88C944-87BF-4BBD-995C-D5791F5F656C}" type="presParOf" srcId="{4B1031C7-C523-4219-8A2A-D48227236EA8}" destId="{B4E446BE-2588-4765-8F19-52B7D148CF9C}" srcOrd="1" destOrd="0" presId="urn:microsoft.com/office/officeart/2008/layout/VerticalCurvedList"/>
    <dgm:cxn modelId="{F90AAD45-5C55-4E29-837B-D0AFEA7B981C}" type="presParOf" srcId="{4B1031C7-C523-4219-8A2A-D48227236EA8}" destId="{01538D16-7FE5-4E34-9344-D399D388DD3B}" srcOrd="2" destOrd="0" presId="urn:microsoft.com/office/officeart/2008/layout/VerticalCurvedList"/>
    <dgm:cxn modelId="{94559A6A-18CC-4AFA-B29E-6D275D742D29}" type="presParOf" srcId="{4B1031C7-C523-4219-8A2A-D48227236EA8}" destId="{251E3FE7-DDA2-4DDC-9B1F-985C074FD558}" srcOrd="3" destOrd="0" presId="urn:microsoft.com/office/officeart/2008/layout/VerticalCurvedList"/>
    <dgm:cxn modelId="{B84B5569-0F0A-4D2F-A8DA-FBB319187B29}" type="presParOf" srcId="{2AE91DCC-7002-4960-B104-E9DC2D42835D}" destId="{BC4683F6-79B8-4FFD-8544-7BFEBCEE9777}" srcOrd="1" destOrd="0" presId="urn:microsoft.com/office/officeart/2008/layout/VerticalCurvedList"/>
    <dgm:cxn modelId="{6180B505-74DF-493F-BBF1-6F77F72D88CC}" type="presParOf" srcId="{2AE91DCC-7002-4960-B104-E9DC2D42835D}" destId="{DF0483EA-DDBA-47D4-9742-A2FA2AC21200}" srcOrd="2" destOrd="0" presId="urn:microsoft.com/office/officeart/2008/layout/VerticalCurvedList"/>
    <dgm:cxn modelId="{A0D3D16B-DBED-493C-BCE7-19155274A2F0}" type="presParOf" srcId="{DF0483EA-DDBA-47D4-9742-A2FA2AC21200}" destId="{CB3C55A9-66CB-484A-ACAB-A4DCF00181CC}" srcOrd="0" destOrd="0" presId="urn:microsoft.com/office/officeart/2008/layout/VerticalCurvedList"/>
    <dgm:cxn modelId="{55A34D4F-232C-47BF-B937-76B9C15021AB}" type="presParOf" srcId="{2AE91DCC-7002-4960-B104-E9DC2D42835D}" destId="{37394609-BB2E-40D4-BBB1-D3A8570A436C}" srcOrd="3" destOrd="0" presId="urn:microsoft.com/office/officeart/2008/layout/VerticalCurvedList"/>
    <dgm:cxn modelId="{A10BB37C-D9F9-49D4-A55C-0537DCDB1E8F}" type="presParOf" srcId="{2AE91DCC-7002-4960-B104-E9DC2D42835D}" destId="{6C3A1712-337D-4C21-8842-F78C40FDF083}" srcOrd="4" destOrd="0" presId="urn:microsoft.com/office/officeart/2008/layout/VerticalCurvedList"/>
    <dgm:cxn modelId="{9B4F21A7-77B4-406B-9C2A-3C2EBAFD62C1}" type="presParOf" srcId="{6C3A1712-337D-4C21-8842-F78C40FDF083}" destId="{7C9EFF93-D619-441B-B280-BDA12C7D8E2A}" srcOrd="0" destOrd="0" presId="urn:microsoft.com/office/officeart/2008/layout/VerticalCurvedList"/>
    <dgm:cxn modelId="{1636844D-B6F9-4CA5-812C-9A809AA36B02}" type="presParOf" srcId="{2AE91DCC-7002-4960-B104-E9DC2D42835D}" destId="{C29665CA-FAE9-45EA-8E14-BB14E579E150}" srcOrd="5" destOrd="0" presId="urn:microsoft.com/office/officeart/2008/layout/VerticalCurvedList"/>
    <dgm:cxn modelId="{2DC074EF-61F3-4A6F-8386-4D1BF5E3C49C}" type="presParOf" srcId="{2AE91DCC-7002-4960-B104-E9DC2D42835D}" destId="{7119A302-45CC-4D53-A198-C12F3BB7E745}" srcOrd="6" destOrd="0" presId="urn:microsoft.com/office/officeart/2008/layout/VerticalCurvedList"/>
    <dgm:cxn modelId="{5BA37EBD-F16D-496D-98F5-4CCA72FB5187}" type="presParOf" srcId="{7119A302-45CC-4D53-A198-C12F3BB7E745}" destId="{3648DEC2-497C-4652-AC5A-3FD36FDE484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351CAB-21E2-4A6B-BCF1-4C29F18A836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B7D907F-B42B-4E05-9E5F-47944D60DAF3}">
      <dgm:prSet phldrT="[Texte]" phldr="1"/>
      <dgm:spPr/>
      <dgm:t>
        <a:bodyPr/>
        <a:lstStyle/>
        <a:p>
          <a:endParaRPr lang="fr-FR" dirty="0"/>
        </a:p>
      </dgm:t>
    </dgm:pt>
    <dgm:pt modelId="{703558FB-E6BC-4493-B9EB-3502E774C4F4}" type="parTrans" cxnId="{911D3312-3C18-40F2-8097-4872E876983E}">
      <dgm:prSet/>
      <dgm:spPr/>
      <dgm:t>
        <a:bodyPr/>
        <a:lstStyle/>
        <a:p>
          <a:endParaRPr lang="fr-FR"/>
        </a:p>
      </dgm:t>
    </dgm:pt>
    <dgm:pt modelId="{BB5F779A-1943-4C30-B6F6-C05ECA5959D5}" type="sibTrans" cxnId="{911D3312-3C18-40F2-8097-4872E876983E}">
      <dgm:prSet/>
      <dgm:spPr/>
      <dgm:t>
        <a:bodyPr/>
        <a:lstStyle/>
        <a:p>
          <a:endParaRPr lang="fr-FR"/>
        </a:p>
      </dgm:t>
    </dgm:pt>
    <dgm:pt modelId="{45394AC0-02B3-49CD-9F44-27496FC99BA4}">
      <dgm:prSet phldrT="[Texte]" custT="1"/>
      <dgm:spPr/>
      <dgm:t>
        <a:bodyPr/>
        <a:lstStyle/>
        <a:p>
          <a:r>
            <a:rPr lang="fr-FR" sz="2400" dirty="0"/>
            <a:t>Actualiser le diagnostic sectoriel</a:t>
          </a:r>
        </a:p>
      </dgm:t>
    </dgm:pt>
    <dgm:pt modelId="{0C08FE46-A93B-49BF-A16B-69207C5B018B}" type="parTrans" cxnId="{BF95E9D2-FEB7-4035-A2DF-BC5821566D38}">
      <dgm:prSet/>
      <dgm:spPr/>
      <dgm:t>
        <a:bodyPr/>
        <a:lstStyle/>
        <a:p>
          <a:endParaRPr lang="fr-FR"/>
        </a:p>
      </dgm:t>
    </dgm:pt>
    <dgm:pt modelId="{61368FE1-2B91-4C7D-8D04-3662369B2334}" type="sibTrans" cxnId="{BF95E9D2-FEB7-4035-A2DF-BC5821566D38}">
      <dgm:prSet/>
      <dgm:spPr/>
      <dgm:t>
        <a:bodyPr/>
        <a:lstStyle/>
        <a:p>
          <a:endParaRPr lang="fr-FR"/>
        </a:p>
      </dgm:t>
    </dgm:pt>
    <dgm:pt modelId="{5EF8331B-F90E-4267-B911-3282AF3D4672}">
      <dgm:prSet phldrT="[Texte]" custT="1"/>
      <dgm:spPr/>
      <dgm:t>
        <a:bodyPr/>
        <a:lstStyle/>
        <a:p>
          <a:r>
            <a:rPr lang="fr-FR" sz="2400" dirty="0"/>
            <a:t>Elaborer le modèle de simulation financière</a:t>
          </a:r>
        </a:p>
      </dgm:t>
    </dgm:pt>
    <dgm:pt modelId="{2B379145-08E0-40DE-9917-4DDD3BDB6EF3}" type="parTrans" cxnId="{AD185B08-38EA-4677-B10F-257D48FF08DC}">
      <dgm:prSet/>
      <dgm:spPr/>
      <dgm:t>
        <a:bodyPr/>
        <a:lstStyle/>
        <a:p>
          <a:endParaRPr lang="fr-FR"/>
        </a:p>
      </dgm:t>
    </dgm:pt>
    <dgm:pt modelId="{7D8AFF94-4D5A-4BD9-974B-4E2C76712CB0}" type="sibTrans" cxnId="{AD185B08-38EA-4677-B10F-257D48FF08DC}">
      <dgm:prSet/>
      <dgm:spPr/>
      <dgm:t>
        <a:bodyPr/>
        <a:lstStyle/>
        <a:p>
          <a:endParaRPr lang="fr-FR"/>
        </a:p>
      </dgm:t>
    </dgm:pt>
    <dgm:pt modelId="{3FFBE916-DA24-4E81-8B9D-4F25719B223A}">
      <dgm:prSet phldrT="[Texte]" phldr="1"/>
      <dgm:spPr/>
      <dgm:t>
        <a:bodyPr/>
        <a:lstStyle/>
        <a:p>
          <a:endParaRPr lang="fr-FR" dirty="0"/>
        </a:p>
      </dgm:t>
    </dgm:pt>
    <dgm:pt modelId="{5F200C32-11DA-4B88-A810-3E7EC5BE3B2B}" type="parTrans" cxnId="{31B02818-8E67-41E9-97BF-9591A42AD1F2}">
      <dgm:prSet/>
      <dgm:spPr/>
      <dgm:t>
        <a:bodyPr/>
        <a:lstStyle/>
        <a:p>
          <a:endParaRPr lang="fr-FR"/>
        </a:p>
      </dgm:t>
    </dgm:pt>
    <dgm:pt modelId="{288FE655-809D-4259-A34F-EDD01EDA00E9}" type="sibTrans" cxnId="{31B02818-8E67-41E9-97BF-9591A42AD1F2}">
      <dgm:prSet/>
      <dgm:spPr/>
      <dgm:t>
        <a:bodyPr/>
        <a:lstStyle/>
        <a:p>
          <a:endParaRPr lang="fr-FR"/>
        </a:p>
      </dgm:t>
    </dgm:pt>
    <dgm:pt modelId="{342468D2-54B0-44D5-A290-B8BEFD9674A2}">
      <dgm:prSet phldrT="[Texte]" custT="1"/>
      <dgm:spPr/>
      <dgm:t>
        <a:bodyPr/>
        <a:lstStyle/>
        <a:p>
          <a:r>
            <a:rPr lang="fr-FR" sz="2400" dirty="0"/>
            <a:t>Elaborer les scénarios de politique éducative</a:t>
          </a:r>
        </a:p>
      </dgm:t>
    </dgm:pt>
    <dgm:pt modelId="{195CECEE-EA4C-45F9-B40B-A144F1E56C39}" type="parTrans" cxnId="{E739637E-771F-4566-9274-4DCECF3D83A2}">
      <dgm:prSet/>
      <dgm:spPr/>
      <dgm:t>
        <a:bodyPr/>
        <a:lstStyle/>
        <a:p>
          <a:endParaRPr lang="fr-FR"/>
        </a:p>
      </dgm:t>
    </dgm:pt>
    <dgm:pt modelId="{3519B106-0F16-4386-96D9-6A6093721883}" type="sibTrans" cxnId="{E739637E-771F-4566-9274-4DCECF3D83A2}">
      <dgm:prSet/>
      <dgm:spPr/>
      <dgm:t>
        <a:bodyPr/>
        <a:lstStyle/>
        <a:p>
          <a:endParaRPr lang="fr-FR"/>
        </a:p>
      </dgm:t>
    </dgm:pt>
    <dgm:pt modelId="{CC9976A2-A7BB-4953-A705-0B8427016671}">
      <dgm:prSet phldrT="[Texte]" custT="1"/>
      <dgm:spPr/>
      <dgm:t>
        <a:bodyPr/>
        <a:lstStyle/>
        <a:p>
          <a:r>
            <a:rPr lang="fr-FR" sz="2400" dirty="0"/>
            <a:t>Identifier les stratégies sectorielles</a:t>
          </a:r>
        </a:p>
      </dgm:t>
    </dgm:pt>
    <dgm:pt modelId="{83C4C8BE-C605-42B8-8FE9-2762084D78AF}" type="parTrans" cxnId="{26CAF4C6-03E1-41AE-8E2B-739A72C68D18}">
      <dgm:prSet/>
      <dgm:spPr/>
      <dgm:t>
        <a:bodyPr/>
        <a:lstStyle/>
        <a:p>
          <a:endParaRPr lang="fr-FR"/>
        </a:p>
      </dgm:t>
    </dgm:pt>
    <dgm:pt modelId="{C86D60D3-F49F-4D40-BF6D-6D6C9627648E}" type="sibTrans" cxnId="{26CAF4C6-03E1-41AE-8E2B-739A72C68D18}">
      <dgm:prSet/>
      <dgm:spPr/>
      <dgm:t>
        <a:bodyPr/>
        <a:lstStyle/>
        <a:p>
          <a:endParaRPr lang="fr-FR"/>
        </a:p>
      </dgm:t>
    </dgm:pt>
    <dgm:pt modelId="{C0206E02-F8C3-415C-9014-E9A0B3920C2B}">
      <dgm:prSet phldrT="[Texte]" phldr="1"/>
      <dgm:spPr/>
      <dgm:t>
        <a:bodyPr/>
        <a:lstStyle/>
        <a:p>
          <a:endParaRPr lang="fr-FR" dirty="0"/>
        </a:p>
      </dgm:t>
    </dgm:pt>
    <dgm:pt modelId="{BF36621B-2379-49EC-A456-F38DC51289D4}" type="parTrans" cxnId="{BB76DDD7-333F-4AE2-A65F-AB6F96138BFC}">
      <dgm:prSet/>
      <dgm:spPr/>
      <dgm:t>
        <a:bodyPr/>
        <a:lstStyle/>
        <a:p>
          <a:endParaRPr lang="fr-FR"/>
        </a:p>
      </dgm:t>
    </dgm:pt>
    <dgm:pt modelId="{22EF4390-57C0-4C4C-814D-FE0340D32EC3}" type="sibTrans" cxnId="{BB76DDD7-333F-4AE2-A65F-AB6F96138BFC}">
      <dgm:prSet/>
      <dgm:spPr/>
      <dgm:t>
        <a:bodyPr/>
        <a:lstStyle/>
        <a:p>
          <a:endParaRPr lang="fr-FR"/>
        </a:p>
      </dgm:t>
    </dgm:pt>
    <dgm:pt modelId="{05F82B44-62A3-420B-88B2-D833A6DFA050}">
      <dgm:prSet phldrT="[Texte]" custT="1"/>
      <dgm:spPr/>
      <dgm:t>
        <a:bodyPr/>
        <a:lstStyle/>
        <a:p>
          <a:r>
            <a:rPr lang="fr-FR" sz="2400" dirty="0"/>
            <a:t>Elaborer la matrice des indicateurs</a:t>
          </a:r>
        </a:p>
      </dgm:t>
    </dgm:pt>
    <dgm:pt modelId="{A0D4576A-CE44-4733-A617-36E3714A8D9B}" type="parTrans" cxnId="{B8B4DAF5-AAF1-4D8A-8FF8-78064A84AD38}">
      <dgm:prSet/>
      <dgm:spPr/>
      <dgm:t>
        <a:bodyPr/>
        <a:lstStyle/>
        <a:p>
          <a:endParaRPr lang="fr-FR"/>
        </a:p>
      </dgm:t>
    </dgm:pt>
    <dgm:pt modelId="{B2C69233-854A-4A21-9E7A-B5D8B2417607}" type="sibTrans" cxnId="{B8B4DAF5-AAF1-4D8A-8FF8-78064A84AD38}">
      <dgm:prSet/>
      <dgm:spPr/>
      <dgm:t>
        <a:bodyPr/>
        <a:lstStyle/>
        <a:p>
          <a:endParaRPr lang="fr-FR"/>
        </a:p>
      </dgm:t>
    </dgm:pt>
    <dgm:pt modelId="{F1EE5D32-C38B-4F0B-8609-532F04F48E3D}">
      <dgm:prSet phldrT="[Texte]" custT="1"/>
      <dgm:spPr/>
      <dgm:t>
        <a:bodyPr/>
        <a:lstStyle/>
        <a:p>
          <a:r>
            <a:rPr lang="fr-FR" sz="2400" dirty="0"/>
            <a:t>Préparer les PTAB</a:t>
          </a:r>
        </a:p>
      </dgm:t>
    </dgm:pt>
    <dgm:pt modelId="{054248C1-92BB-40F9-BD4E-3BD7E77F3531}" type="parTrans" cxnId="{9BC1BD94-FFCB-4681-A01E-ED0D5EBE6E43}">
      <dgm:prSet/>
      <dgm:spPr/>
      <dgm:t>
        <a:bodyPr/>
        <a:lstStyle/>
        <a:p>
          <a:endParaRPr lang="fr-FR"/>
        </a:p>
      </dgm:t>
    </dgm:pt>
    <dgm:pt modelId="{08FC5090-AF07-45AA-A81F-E3B1D0955753}" type="sibTrans" cxnId="{9BC1BD94-FFCB-4681-A01E-ED0D5EBE6E43}">
      <dgm:prSet/>
      <dgm:spPr/>
      <dgm:t>
        <a:bodyPr/>
        <a:lstStyle/>
        <a:p>
          <a:endParaRPr lang="fr-FR"/>
        </a:p>
      </dgm:t>
    </dgm:pt>
    <dgm:pt modelId="{DE5871DC-3930-4677-A3A5-03C33879AFA9}" type="pres">
      <dgm:prSet presAssocID="{39351CAB-21E2-4A6B-BCF1-4C29F18A836B}" presName="linearFlow" presStyleCnt="0">
        <dgm:presLayoutVars>
          <dgm:dir/>
          <dgm:animLvl val="lvl"/>
          <dgm:resizeHandles val="exact"/>
        </dgm:presLayoutVars>
      </dgm:prSet>
      <dgm:spPr/>
    </dgm:pt>
    <dgm:pt modelId="{1A2C2FE5-FC3A-4651-BDDC-501FEE6E9CE0}" type="pres">
      <dgm:prSet presAssocID="{9B7D907F-B42B-4E05-9E5F-47944D60DAF3}" presName="composite" presStyleCnt="0"/>
      <dgm:spPr/>
    </dgm:pt>
    <dgm:pt modelId="{2C5A565B-7F2E-4021-AF5E-6FE8C0E4665E}" type="pres">
      <dgm:prSet presAssocID="{9B7D907F-B42B-4E05-9E5F-47944D60DAF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77B73E4-17F2-4ED4-9015-BA08FB9872CB}" type="pres">
      <dgm:prSet presAssocID="{9B7D907F-B42B-4E05-9E5F-47944D60DAF3}" presName="descendantText" presStyleLbl="alignAcc1" presStyleIdx="0" presStyleCnt="3" custScaleY="135876" custLinFactNeighborY="0">
        <dgm:presLayoutVars>
          <dgm:bulletEnabled val="1"/>
        </dgm:presLayoutVars>
      </dgm:prSet>
      <dgm:spPr/>
    </dgm:pt>
    <dgm:pt modelId="{6BD3549B-2958-42E8-A33B-A358E3CA7E31}" type="pres">
      <dgm:prSet presAssocID="{BB5F779A-1943-4C30-B6F6-C05ECA5959D5}" presName="sp" presStyleCnt="0"/>
      <dgm:spPr/>
    </dgm:pt>
    <dgm:pt modelId="{5D72B7DE-9803-45B7-9BE3-749B071937D1}" type="pres">
      <dgm:prSet presAssocID="{3FFBE916-DA24-4E81-8B9D-4F25719B223A}" presName="composite" presStyleCnt="0"/>
      <dgm:spPr/>
    </dgm:pt>
    <dgm:pt modelId="{0E5A9762-A2C8-419D-8CE6-1F7E593DBFBD}" type="pres">
      <dgm:prSet presAssocID="{3FFBE916-DA24-4E81-8B9D-4F25719B223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8A9C0EF-8CC0-47A6-902F-71553B6B22AE}" type="pres">
      <dgm:prSet presAssocID="{3FFBE916-DA24-4E81-8B9D-4F25719B223A}" presName="descendantText" presStyleLbl="alignAcc1" presStyleIdx="1" presStyleCnt="3" custScaleX="100003" custScaleY="118543">
        <dgm:presLayoutVars>
          <dgm:bulletEnabled val="1"/>
        </dgm:presLayoutVars>
      </dgm:prSet>
      <dgm:spPr/>
    </dgm:pt>
    <dgm:pt modelId="{170EDB58-D057-4766-98D4-9495CA49EA15}" type="pres">
      <dgm:prSet presAssocID="{288FE655-809D-4259-A34F-EDD01EDA00E9}" presName="sp" presStyleCnt="0"/>
      <dgm:spPr/>
    </dgm:pt>
    <dgm:pt modelId="{56FA3E3A-3C50-484F-B1DB-7E59A1DEF3E4}" type="pres">
      <dgm:prSet presAssocID="{C0206E02-F8C3-415C-9014-E9A0B3920C2B}" presName="composite" presStyleCnt="0"/>
      <dgm:spPr/>
    </dgm:pt>
    <dgm:pt modelId="{59E15129-4E89-4474-BE74-8837686BA8C6}" type="pres">
      <dgm:prSet presAssocID="{C0206E02-F8C3-415C-9014-E9A0B3920C2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DF16239-0F49-428C-AF64-CA409271762A}" type="pres">
      <dgm:prSet presAssocID="{C0206E02-F8C3-415C-9014-E9A0B3920C2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D2C9E00-3897-4342-9ACE-5E4421B9ADC3}" type="presOf" srcId="{C0206E02-F8C3-415C-9014-E9A0B3920C2B}" destId="{59E15129-4E89-4474-BE74-8837686BA8C6}" srcOrd="0" destOrd="0" presId="urn:microsoft.com/office/officeart/2005/8/layout/chevron2"/>
    <dgm:cxn modelId="{AD185B08-38EA-4677-B10F-257D48FF08DC}" srcId="{9B7D907F-B42B-4E05-9E5F-47944D60DAF3}" destId="{5EF8331B-F90E-4267-B911-3282AF3D4672}" srcOrd="1" destOrd="0" parTransId="{2B379145-08E0-40DE-9917-4DDD3BDB6EF3}" sibTransId="{7D8AFF94-4D5A-4BD9-974B-4E2C76712CB0}"/>
    <dgm:cxn modelId="{6F26DB0F-67A0-4B99-A408-B175AE09C343}" type="presOf" srcId="{45394AC0-02B3-49CD-9F44-27496FC99BA4}" destId="{977B73E4-17F2-4ED4-9015-BA08FB9872CB}" srcOrd="0" destOrd="0" presId="urn:microsoft.com/office/officeart/2005/8/layout/chevron2"/>
    <dgm:cxn modelId="{911D3312-3C18-40F2-8097-4872E876983E}" srcId="{39351CAB-21E2-4A6B-BCF1-4C29F18A836B}" destId="{9B7D907F-B42B-4E05-9E5F-47944D60DAF3}" srcOrd="0" destOrd="0" parTransId="{703558FB-E6BC-4493-B9EB-3502E774C4F4}" sibTransId="{BB5F779A-1943-4C30-B6F6-C05ECA5959D5}"/>
    <dgm:cxn modelId="{31B02818-8E67-41E9-97BF-9591A42AD1F2}" srcId="{39351CAB-21E2-4A6B-BCF1-4C29F18A836B}" destId="{3FFBE916-DA24-4E81-8B9D-4F25719B223A}" srcOrd="1" destOrd="0" parTransId="{5F200C32-11DA-4B88-A810-3E7EC5BE3B2B}" sibTransId="{288FE655-809D-4259-A34F-EDD01EDA00E9}"/>
    <dgm:cxn modelId="{3A3F1460-2FE5-405C-A426-0FC73A586CB2}" type="presOf" srcId="{CC9976A2-A7BB-4953-A705-0B8427016671}" destId="{98A9C0EF-8CC0-47A6-902F-71553B6B22AE}" srcOrd="0" destOrd="1" presId="urn:microsoft.com/office/officeart/2005/8/layout/chevron2"/>
    <dgm:cxn modelId="{52C34554-58D4-4B68-B6A9-D8070E885CA5}" type="presOf" srcId="{342468D2-54B0-44D5-A290-B8BEFD9674A2}" destId="{98A9C0EF-8CC0-47A6-902F-71553B6B22AE}" srcOrd="0" destOrd="0" presId="urn:microsoft.com/office/officeart/2005/8/layout/chevron2"/>
    <dgm:cxn modelId="{0780DD56-5525-4A2D-8264-0D5C4F1AC774}" type="presOf" srcId="{05F82B44-62A3-420B-88B2-D833A6DFA050}" destId="{CDF16239-0F49-428C-AF64-CA409271762A}" srcOrd="0" destOrd="0" presId="urn:microsoft.com/office/officeart/2005/8/layout/chevron2"/>
    <dgm:cxn modelId="{7FBEFC57-42AC-4F8B-8422-AD11F105F82E}" type="presOf" srcId="{5EF8331B-F90E-4267-B911-3282AF3D4672}" destId="{977B73E4-17F2-4ED4-9015-BA08FB9872CB}" srcOrd="0" destOrd="1" presId="urn:microsoft.com/office/officeart/2005/8/layout/chevron2"/>
    <dgm:cxn modelId="{EBC4FE7C-591B-4D6A-B001-2D928BF75E59}" type="presOf" srcId="{39351CAB-21E2-4A6B-BCF1-4C29F18A836B}" destId="{DE5871DC-3930-4677-A3A5-03C33879AFA9}" srcOrd="0" destOrd="0" presId="urn:microsoft.com/office/officeart/2005/8/layout/chevron2"/>
    <dgm:cxn modelId="{E739637E-771F-4566-9274-4DCECF3D83A2}" srcId="{3FFBE916-DA24-4E81-8B9D-4F25719B223A}" destId="{342468D2-54B0-44D5-A290-B8BEFD9674A2}" srcOrd="0" destOrd="0" parTransId="{195CECEE-EA4C-45F9-B40B-A144F1E56C39}" sibTransId="{3519B106-0F16-4386-96D9-6A6093721883}"/>
    <dgm:cxn modelId="{6CDB9F8E-37EA-4290-9863-742B8BF9123D}" type="presOf" srcId="{9B7D907F-B42B-4E05-9E5F-47944D60DAF3}" destId="{2C5A565B-7F2E-4021-AF5E-6FE8C0E4665E}" srcOrd="0" destOrd="0" presId="urn:microsoft.com/office/officeart/2005/8/layout/chevron2"/>
    <dgm:cxn modelId="{9BC1BD94-FFCB-4681-A01E-ED0D5EBE6E43}" srcId="{C0206E02-F8C3-415C-9014-E9A0B3920C2B}" destId="{F1EE5D32-C38B-4F0B-8609-532F04F48E3D}" srcOrd="1" destOrd="0" parTransId="{054248C1-92BB-40F9-BD4E-3BD7E77F3531}" sibTransId="{08FC5090-AF07-45AA-A81F-E3B1D0955753}"/>
    <dgm:cxn modelId="{EF6783A2-C3CC-407B-B5AE-ADCFCA9BB61E}" type="presOf" srcId="{3FFBE916-DA24-4E81-8B9D-4F25719B223A}" destId="{0E5A9762-A2C8-419D-8CE6-1F7E593DBFBD}" srcOrd="0" destOrd="0" presId="urn:microsoft.com/office/officeart/2005/8/layout/chevron2"/>
    <dgm:cxn modelId="{1D103AB5-998F-4A1B-A1B2-98C84DF57B11}" type="presOf" srcId="{F1EE5D32-C38B-4F0B-8609-532F04F48E3D}" destId="{CDF16239-0F49-428C-AF64-CA409271762A}" srcOrd="0" destOrd="1" presId="urn:microsoft.com/office/officeart/2005/8/layout/chevron2"/>
    <dgm:cxn modelId="{26CAF4C6-03E1-41AE-8E2B-739A72C68D18}" srcId="{3FFBE916-DA24-4E81-8B9D-4F25719B223A}" destId="{CC9976A2-A7BB-4953-A705-0B8427016671}" srcOrd="1" destOrd="0" parTransId="{83C4C8BE-C605-42B8-8FE9-2762084D78AF}" sibTransId="{C86D60D3-F49F-4D40-BF6D-6D6C9627648E}"/>
    <dgm:cxn modelId="{BF95E9D2-FEB7-4035-A2DF-BC5821566D38}" srcId="{9B7D907F-B42B-4E05-9E5F-47944D60DAF3}" destId="{45394AC0-02B3-49CD-9F44-27496FC99BA4}" srcOrd="0" destOrd="0" parTransId="{0C08FE46-A93B-49BF-A16B-69207C5B018B}" sibTransId="{61368FE1-2B91-4C7D-8D04-3662369B2334}"/>
    <dgm:cxn modelId="{BB76DDD7-333F-4AE2-A65F-AB6F96138BFC}" srcId="{39351CAB-21E2-4A6B-BCF1-4C29F18A836B}" destId="{C0206E02-F8C3-415C-9014-E9A0B3920C2B}" srcOrd="2" destOrd="0" parTransId="{BF36621B-2379-49EC-A456-F38DC51289D4}" sibTransId="{22EF4390-57C0-4C4C-814D-FE0340D32EC3}"/>
    <dgm:cxn modelId="{B8B4DAF5-AAF1-4D8A-8FF8-78064A84AD38}" srcId="{C0206E02-F8C3-415C-9014-E9A0B3920C2B}" destId="{05F82B44-62A3-420B-88B2-D833A6DFA050}" srcOrd="0" destOrd="0" parTransId="{A0D4576A-CE44-4733-A617-36E3714A8D9B}" sibTransId="{B2C69233-854A-4A21-9E7A-B5D8B2417607}"/>
    <dgm:cxn modelId="{C8CA6E8D-E09C-41BD-A37A-02AA45094C66}" type="presParOf" srcId="{DE5871DC-3930-4677-A3A5-03C33879AFA9}" destId="{1A2C2FE5-FC3A-4651-BDDC-501FEE6E9CE0}" srcOrd="0" destOrd="0" presId="urn:microsoft.com/office/officeart/2005/8/layout/chevron2"/>
    <dgm:cxn modelId="{8480E163-FC85-418F-B9C5-D1594EBB5CF6}" type="presParOf" srcId="{1A2C2FE5-FC3A-4651-BDDC-501FEE6E9CE0}" destId="{2C5A565B-7F2E-4021-AF5E-6FE8C0E4665E}" srcOrd="0" destOrd="0" presId="urn:microsoft.com/office/officeart/2005/8/layout/chevron2"/>
    <dgm:cxn modelId="{C4DCB3E4-D4A0-444B-82FE-59653A6D994A}" type="presParOf" srcId="{1A2C2FE5-FC3A-4651-BDDC-501FEE6E9CE0}" destId="{977B73E4-17F2-4ED4-9015-BA08FB9872CB}" srcOrd="1" destOrd="0" presId="urn:microsoft.com/office/officeart/2005/8/layout/chevron2"/>
    <dgm:cxn modelId="{955C47F1-BB2E-424E-BC5D-A911CC1EE8D6}" type="presParOf" srcId="{DE5871DC-3930-4677-A3A5-03C33879AFA9}" destId="{6BD3549B-2958-42E8-A33B-A358E3CA7E31}" srcOrd="1" destOrd="0" presId="urn:microsoft.com/office/officeart/2005/8/layout/chevron2"/>
    <dgm:cxn modelId="{8919F5FC-5BD6-4FBC-AF7D-CE54526B7528}" type="presParOf" srcId="{DE5871DC-3930-4677-A3A5-03C33879AFA9}" destId="{5D72B7DE-9803-45B7-9BE3-749B071937D1}" srcOrd="2" destOrd="0" presId="urn:microsoft.com/office/officeart/2005/8/layout/chevron2"/>
    <dgm:cxn modelId="{95DE3B33-90EE-4B71-8445-B2AD20EB5D0A}" type="presParOf" srcId="{5D72B7DE-9803-45B7-9BE3-749B071937D1}" destId="{0E5A9762-A2C8-419D-8CE6-1F7E593DBFBD}" srcOrd="0" destOrd="0" presId="urn:microsoft.com/office/officeart/2005/8/layout/chevron2"/>
    <dgm:cxn modelId="{1F8CB110-74F6-472F-9E44-5E0091EC44E0}" type="presParOf" srcId="{5D72B7DE-9803-45B7-9BE3-749B071937D1}" destId="{98A9C0EF-8CC0-47A6-902F-71553B6B22AE}" srcOrd="1" destOrd="0" presId="urn:microsoft.com/office/officeart/2005/8/layout/chevron2"/>
    <dgm:cxn modelId="{4C402B2B-1CEA-4B6A-9A03-F7EF3AA52CE2}" type="presParOf" srcId="{DE5871DC-3930-4677-A3A5-03C33879AFA9}" destId="{170EDB58-D057-4766-98D4-9495CA49EA15}" srcOrd="3" destOrd="0" presId="urn:microsoft.com/office/officeart/2005/8/layout/chevron2"/>
    <dgm:cxn modelId="{5CBF28FD-1AAA-46DD-87E6-A41B86BE55A3}" type="presParOf" srcId="{DE5871DC-3930-4677-A3A5-03C33879AFA9}" destId="{56FA3E3A-3C50-484F-B1DB-7E59A1DEF3E4}" srcOrd="4" destOrd="0" presId="urn:microsoft.com/office/officeart/2005/8/layout/chevron2"/>
    <dgm:cxn modelId="{5BBD14CA-DBA5-4185-9230-D1F9CE175891}" type="presParOf" srcId="{56FA3E3A-3C50-484F-B1DB-7E59A1DEF3E4}" destId="{59E15129-4E89-4474-BE74-8837686BA8C6}" srcOrd="0" destOrd="0" presId="urn:microsoft.com/office/officeart/2005/8/layout/chevron2"/>
    <dgm:cxn modelId="{9E9FAC29-089B-4782-9978-2F99431F88C5}" type="presParOf" srcId="{56FA3E3A-3C50-484F-B1DB-7E59A1DEF3E4}" destId="{CDF16239-0F49-428C-AF64-CA409271762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à un enseignement préscolaire équitable et inclusif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9ED7CEA6-EAE8-4958-A420-9CB777950497}">
      <dgm:prSet phldrT="[Texte]"/>
      <dgm:spPr/>
      <dgm:t>
        <a:bodyPr/>
        <a:lstStyle/>
        <a:p>
          <a:r>
            <a:rPr lang="fr-FR" dirty="0"/>
            <a:t>Augmenter les effectifs (augmenter les capacités d’accueil et d’encadrement ; promouvoir l’inclusion)</a:t>
          </a:r>
        </a:p>
      </dgm:t>
    </dgm:pt>
    <dgm:pt modelId="{47218451-F41B-484A-964B-1D41A5DAF42E}" type="parTrans" cxnId="{59ED17CF-45CD-4059-98FB-C713C4B4C9D2}">
      <dgm:prSet/>
      <dgm:spPr/>
      <dgm:t>
        <a:bodyPr/>
        <a:lstStyle/>
        <a:p>
          <a:endParaRPr lang="fr-FR"/>
        </a:p>
      </dgm:t>
    </dgm:pt>
    <dgm:pt modelId="{483645E8-F857-45B8-8FE9-3894BED7D530}" type="sibTrans" cxnId="{59ED17CF-45CD-4059-98FB-C713C4B4C9D2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de l’enseignement préscolaire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/>
      <dgm:spPr/>
      <dgm:t>
        <a:bodyPr/>
        <a:lstStyle/>
        <a:p>
          <a:r>
            <a:rPr lang="fr-FR" dirty="0"/>
            <a:t>Disposer d’éducatrices et d’éducateurs qualifiés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54613298-5830-4F9E-BF61-D76E647653D4}">
      <dgm:prSet phldrT="[Texte]"/>
      <dgm:spPr/>
      <dgm:t>
        <a:bodyPr/>
        <a:lstStyle/>
        <a:p>
          <a:r>
            <a:rPr lang="fr-FR" dirty="0"/>
            <a:t>Améliorer la dotation des écoles en matériels pédagogiques</a:t>
          </a:r>
        </a:p>
      </dgm:t>
    </dgm:pt>
    <dgm:pt modelId="{34D59B7A-2833-4AD9-9CAD-FD98E7E22230}" type="parTrans" cxnId="{A611CC19-661E-41C1-A5F8-62531013ADF7}">
      <dgm:prSet/>
      <dgm:spPr/>
      <dgm:t>
        <a:bodyPr/>
        <a:lstStyle/>
        <a:p>
          <a:endParaRPr lang="fr-FR"/>
        </a:p>
      </dgm:t>
    </dgm:pt>
    <dgm:pt modelId="{E3AA0C60-C9C3-4B82-9CFC-BA7F86ACF9D1}" type="sibTrans" cxnId="{A611CC19-661E-41C1-A5F8-62531013ADF7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gestion et la coordination de l’enseignement préscolaire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/>
      <dgm:spPr/>
      <dgm:t>
        <a:bodyPr/>
        <a:lstStyle/>
        <a:p>
          <a:r>
            <a:rPr lang="fr-FR" dirty="0"/>
            <a:t>Améliorer le cadre réglementaire du préscolaire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611CC19-661E-41C1-A5F8-62531013ADF7}" srcId="{E82F7BBF-F76B-4F37-A699-F2ECE07A9E8B}" destId="{54613298-5830-4F9E-BF61-D76E647653D4}" srcOrd="1" destOrd="0" parTransId="{34D59B7A-2833-4AD9-9CAD-FD98E7E22230}" sibTransId="{E3AA0C60-C9C3-4B82-9CFC-BA7F86ACF9D1}"/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00764765-8F31-4AFD-9DF4-9F446A32B7EF}" type="presOf" srcId="{54613298-5830-4F9E-BF61-D76E647653D4}" destId="{A7003176-9A3A-4A7C-BDDF-BF27CA9EBD30}" srcOrd="0" destOrd="1" presId="urn:microsoft.com/office/officeart/2005/8/layout/vList5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BC363496-AE6F-4429-AFD3-82D342996FBA}" type="presOf" srcId="{9ED7CEA6-EAE8-4958-A420-9CB777950497}" destId="{4DA1386B-5E55-4D13-89B8-144E9226E980}" srcOrd="0" destOrd="0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59ED17CF-45CD-4059-98FB-C713C4B4C9D2}" srcId="{E9FF58BE-C220-4108-960B-66EC303F0F9B}" destId="{9ED7CEA6-EAE8-4958-A420-9CB777950497}" srcOrd="0" destOrd="0" parTransId="{47218451-F41B-484A-964B-1D41A5DAF42E}" sibTransId="{483645E8-F857-45B8-8FE9-3894BED7D530}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équitable au primaire et réduire les disparités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9ED7CEA6-EAE8-4958-A420-9CB777950497}">
      <dgm:prSet phldrT="[Texte]"/>
      <dgm:spPr/>
      <dgm:t>
        <a:bodyPr/>
        <a:lstStyle/>
        <a:p>
          <a:r>
            <a:rPr lang="fr-FR" dirty="0"/>
            <a:t>Augmenter l’offre, stimuler la demande pour les enfants vulnérables, créer un environnement protecteur pour tous les enfants.</a:t>
          </a:r>
        </a:p>
      </dgm:t>
    </dgm:pt>
    <dgm:pt modelId="{47218451-F41B-484A-964B-1D41A5DAF42E}" type="parTrans" cxnId="{59ED17CF-45CD-4059-98FB-C713C4B4C9D2}">
      <dgm:prSet/>
      <dgm:spPr/>
      <dgm:t>
        <a:bodyPr/>
        <a:lstStyle/>
        <a:p>
          <a:endParaRPr lang="fr-FR"/>
        </a:p>
      </dgm:t>
    </dgm:pt>
    <dgm:pt modelId="{483645E8-F857-45B8-8FE9-3894BED7D530}" type="sibTrans" cxnId="{59ED17CF-45CD-4059-98FB-C713C4B4C9D2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de l’enseignement primaire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 custT="1"/>
      <dgm:spPr/>
      <dgm:t>
        <a:bodyPr/>
        <a:lstStyle/>
        <a:p>
          <a:r>
            <a:rPr lang="fr-FR" sz="2000" dirty="0"/>
            <a:t>Améliorer la formation initiale et continue des enseignants, la répartition des enseignants, l’efficience, l’encadrement pédagogique des enseignants, le temps d’apprentissage 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gouvernance/gestion des écoles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/>
      <dgm:spPr/>
      <dgm:t>
        <a:bodyPr/>
        <a:lstStyle/>
        <a:p>
          <a:r>
            <a:rPr lang="fr-FR" dirty="0"/>
            <a:t>Améliorer les outils de pilotage des écoles,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C1F93461-BDDD-4E67-9069-24931D6D1626}">
      <dgm:prSet phldrT="[Texte]" custT="1"/>
      <dgm:spPr/>
      <dgm:t>
        <a:bodyPr/>
        <a:lstStyle/>
        <a:p>
          <a:r>
            <a:rPr lang="fr-FR" sz="2000" dirty="0"/>
            <a:t>Doter les établissements en matériels pédagogiques</a:t>
          </a:r>
        </a:p>
      </dgm:t>
    </dgm:pt>
    <dgm:pt modelId="{EE636401-E19B-4154-A1D6-C1C8C6EDBAB8}" type="parTrans" cxnId="{FD18452C-2CB0-4F4E-B950-F4476E5743A5}">
      <dgm:prSet/>
      <dgm:spPr/>
      <dgm:t>
        <a:bodyPr/>
        <a:lstStyle/>
        <a:p>
          <a:endParaRPr lang="fr-FR"/>
        </a:p>
      </dgm:t>
    </dgm:pt>
    <dgm:pt modelId="{9567513D-CE32-4C2F-BD63-98750B102106}" type="sibTrans" cxnId="{FD18452C-2CB0-4F4E-B950-F4476E5743A5}">
      <dgm:prSet/>
      <dgm:spPr/>
      <dgm:t>
        <a:bodyPr/>
        <a:lstStyle/>
        <a:p>
          <a:endParaRPr lang="fr-FR"/>
        </a:p>
      </dgm:t>
    </dgm:pt>
    <dgm:pt modelId="{2438F74D-CA62-4975-8FD4-DB89D7165B11}">
      <dgm:prSet phldrT="[Texte]" custT="1"/>
      <dgm:spPr/>
      <dgm:t>
        <a:bodyPr/>
        <a:lstStyle/>
        <a:p>
          <a:r>
            <a:rPr lang="fr-FR" sz="2000" dirty="0"/>
            <a:t>Améliorer le système d’évaluation des apprentissage</a:t>
          </a:r>
        </a:p>
      </dgm:t>
    </dgm:pt>
    <dgm:pt modelId="{4513E627-5147-4F97-992C-66FB2F11B176}" type="parTrans" cxnId="{1892CF42-4546-4616-9F74-D2EDC526E772}">
      <dgm:prSet/>
      <dgm:spPr/>
      <dgm:t>
        <a:bodyPr/>
        <a:lstStyle/>
        <a:p>
          <a:endParaRPr lang="fr-FR"/>
        </a:p>
      </dgm:t>
    </dgm:pt>
    <dgm:pt modelId="{7BD5E362-7C2E-4A92-825C-8D91ADC3FAEF}" type="sibTrans" cxnId="{1892CF42-4546-4616-9F74-D2EDC526E772}">
      <dgm:prSet/>
      <dgm:spPr/>
      <dgm:t>
        <a:bodyPr/>
        <a:lstStyle/>
        <a:p>
          <a:endParaRPr lang="fr-FR"/>
        </a:p>
      </dgm:t>
    </dgm:pt>
    <dgm:pt modelId="{717F13BB-F5FE-4672-8C5C-B79E2D6B908D}">
      <dgm:prSet phldrT="[Texte]"/>
      <dgm:spPr/>
      <dgm:t>
        <a:bodyPr/>
        <a:lstStyle/>
        <a:p>
          <a:r>
            <a:rPr lang="fr-FR" dirty="0"/>
            <a:t>Renforcer le rôle des directeurs,</a:t>
          </a:r>
        </a:p>
      </dgm:t>
    </dgm:pt>
    <dgm:pt modelId="{61C34F3A-DB1F-4AB6-A058-6A66432DA734}" type="parTrans" cxnId="{F4792350-9D0C-46A9-A7C8-020A8F74F1FC}">
      <dgm:prSet/>
      <dgm:spPr/>
      <dgm:t>
        <a:bodyPr/>
        <a:lstStyle/>
        <a:p>
          <a:endParaRPr lang="fr-FR"/>
        </a:p>
      </dgm:t>
    </dgm:pt>
    <dgm:pt modelId="{ABF4BBD7-4C20-43FA-BA9E-7D76FCA3794C}" type="sibTrans" cxnId="{F4792350-9D0C-46A9-A7C8-020A8F74F1FC}">
      <dgm:prSet/>
      <dgm:spPr/>
      <dgm:t>
        <a:bodyPr/>
        <a:lstStyle/>
        <a:p>
          <a:endParaRPr lang="fr-FR"/>
        </a:p>
      </dgm:t>
    </dgm:pt>
    <dgm:pt modelId="{8C5B26AB-2DFF-4E1A-A39F-3BFE174904FB}">
      <dgm:prSet phldrT="[Texte]"/>
      <dgm:spPr/>
      <dgm:t>
        <a:bodyPr/>
        <a:lstStyle/>
        <a:p>
          <a:r>
            <a:rPr lang="fr-FR" dirty="0"/>
            <a:t>Améliorer la gouvernance des écoles (projets d’écoles, suivi contrôle des dépenses)</a:t>
          </a:r>
        </a:p>
      </dgm:t>
    </dgm:pt>
    <dgm:pt modelId="{82BE8414-A6F1-451F-BF19-9CB6C672CEAF}" type="parTrans" cxnId="{D08B5E81-0736-4DDF-9A75-C81A2224628C}">
      <dgm:prSet/>
      <dgm:spPr/>
      <dgm:t>
        <a:bodyPr/>
        <a:lstStyle/>
        <a:p>
          <a:endParaRPr lang="fr-FR"/>
        </a:p>
      </dgm:t>
    </dgm:pt>
    <dgm:pt modelId="{2EF468A7-5609-4C18-9BDF-B5CF694D9B09}" type="sibTrans" cxnId="{D08B5E81-0736-4DDF-9A75-C81A2224628C}">
      <dgm:prSet/>
      <dgm:spPr/>
      <dgm:t>
        <a:bodyPr/>
        <a:lstStyle/>
        <a:p>
          <a:endParaRPr lang="fr-FR"/>
        </a:p>
      </dgm:t>
    </dgm:pt>
    <dgm:pt modelId="{D8CE802E-6556-4EA8-B3E9-05818F63D7BE}">
      <dgm:prSet phldrT="[Texte]" custT="1"/>
      <dgm:spPr/>
      <dgm:t>
        <a:bodyPr/>
        <a:lstStyle/>
        <a:p>
          <a:r>
            <a:rPr lang="fr-FR" sz="2000" dirty="0"/>
            <a:t>Poursuivre la réforme curriculaire et la politique des manuels </a:t>
          </a:r>
        </a:p>
      </dgm:t>
    </dgm:pt>
    <dgm:pt modelId="{B2F283D5-2EEC-4975-8F49-776075616DDC}" type="parTrans" cxnId="{CA917CB2-DA24-4A29-88F2-C539744B8918}">
      <dgm:prSet/>
      <dgm:spPr/>
    </dgm:pt>
    <dgm:pt modelId="{CCE7D95C-3F05-43A5-9E1C-9B0622DE8EA8}" type="sibTrans" cxnId="{CA917CB2-DA24-4A29-88F2-C539744B8918}">
      <dgm:prSet/>
      <dgm:spPr/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 custScaleY="123032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CBBF708-214F-4AFC-B8FE-792687842C33}" type="presOf" srcId="{D8CE802E-6556-4EA8-B3E9-05818F63D7BE}" destId="{A7003176-9A3A-4A7C-BDDF-BF27CA9EBD30}" srcOrd="0" destOrd="1" presId="urn:microsoft.com/office/officeart/2005/8/layout/vList5"/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FD18452C-2CB0-4F4E-B950-F4476E5743A5}" srcId="{E82F7BBF-F76B-4F37-A699-F2ECE07A9E8B}" destId="{C1F93461-BDDD-4E67-9069-24931D6D1626}" srcOrd="2" destOrd="0" parTransId="{EE636401-E19B-4154-A1D6-C1C8C6EDBAB8}" sibTransId="{9567513D-CE32-4C2F-BD63-98750B102106}"/>
    <dgm:cxn modelId="{1892CF42-4546-4616-9F74-D2EDC526E772}" srcId="{E82F7BBF-F76B-4F37-A699-F2ECE07A9E8B}" destId="{2438F74D-CA62-4975-8FD4-DB89D7165B11}" srcOrd="3" destOrd="0" parTransId="{4513E627-5147-4F97-992C-66FB2F11B176}" sibTransId="{7BD5E362-7C2E-4A92-825C-8D91ADC3FAEF}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F4792350-9D0C-46A9-A7C8-020A8F74F1FC}" srcId="{F1C9E7AA-5CAD-4892-B259-4BA8B283107E}" destId="{717F13BB-F5FE-4672-8C5C-B79E2D6B908D}" srcOrd="1" destOrd="0" parTransId="{61C34F3A-DB1F-4AB6-A058-6A66432DA734}" sibTransId="{ABF4BBD7-4C20-43FA-BA9E-7D76FCA3794C}"/>
    <dgm:cxn modelId="{3D272A71-D62C-42BD-A026-6E8010DBE5C1}" type="presOf" srcId="{C1F93461-BDDD-4E67-9069-24931D6D1626}" destId="{A7003176-9A3A-4A7C-BDDF-BF27CA9EBD30}" srcOrd="0" destOrd="2" presId="urn:microsoft.com/office/officeart/2005/8/layout/vList5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D08B5E81-0736-4DDF-9A75-C81A2224628C}" srcId="{F1C9E7AA-5CAD-4892-B259-4BA8B283107E}" destId="{8C5B26AB-2DFF-4E1A-A39F-3BFE174904FB}" srcOrd="2" destOrd="0" parTransId="{82BE8414-A6F1-451F-BF19-9CB6C672CEAF}" sibTransId="{2EF468A7-5609-4C18-9BDF-B5CF694D9B09}"/>
    <dgm:cxn modelId="{BC363496-AE6F-4429-AFD3-82D342996FBA}" type="presOf" srcId="{9ED7CEA6-EAE8-4958-A420-9CB777950497}" destId="{4DA1386B-5E55-4D13-89B8-144E9226E980}" srcOrd="0" destOrd="0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C99330A1-787F-49F5-BD4C-C91C11149FA0}" type="presOf" srcId="{717F13BB-F5FE-4672-8C5C-B79E2D6B908D}" destId="{048EB2A2-CC66-470D-87B5-250B8C933CF6}" srcOrd="0" destOrd="1" presId="urn:microsoft.com/office/officeart/2005/8/layout/vList5"/>
    <dgm:cxn modelId="{CA917CB2-DA24-4A29-88F2-C539744B8918}" srcId="{E82F7BBF-F76B-4F37-A699-F2ECE07A9E8B}" destId="{D8CE802E-6556-4EA8-B3E9-05818F63D7BE}" srcOrd="1" destOrd="0" parTransId="{B2F283D5-2EEC-4975-8F49-776075616DDC}" sibTransId="{CCE7D95C-3F05-43A5-9E1C-9B0622DE8EA8}"/>
    <dgm:cxn modelId="{69D37DC3-BED5-4320-AF04-22256DE7C794}" type="presOf" srcId="{2438F74D-CA62-4975-8FD4-DB89D7165B11}" destId="{A7003176-9A3A-4A7C-BDDF-BF27CA9EBD30}" srcOrd="0" destOrd="3" presId="urn:microsoft.com/office/officeart/2005/8/layout/vList5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32CF41CC-AFBD-4777-890C-FC1130281A39}" type="presOf" srcId="{8C5B26AB-2DFF-4E1A-A39F-3BFE174904FB}" destId="{048EB2A2-CC66-470D-87B5-250B8C933CF6}" srcOrd="0" destOrd="2" presId="urn:microsoft.com/office/officeart/2005/8/layout/vList5"/>
    <dgm:cxn modelId="{59ED17CF-45CD-4059-98FB-C713C4B4C9D2}" srcId="{E9FF58BE-C220-4108-960B-66EC303F0F9B}" destId="{9ED7CEA6-EAE8-4958-A420-9CB777950497}" srcOrd="0" destOrd="0" parTransId="{47218451-F41B-484A-964B-1D41A5DAF42E}" sibTransId="{483645E8-F857-45B8-8FE9-3894BED7D530}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équitable au secondaire 1 et 2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9ED7CEA6-EAE8-4958-A420-9CB777950497}">
      <dgm:prSet phldrT="[Texte]"/>
      <dgm:spPr/>
      <dgm:t>
        <a:bodyPr/>
        <a:lstStyle/>
        <a:p>
          <a:r>
            <a:rPr lang="fr-FR" dirty="0"/>
            <a:t>Améliorer l’offre scolaire </a:t>
          </a:r>
        </a:p>
      </dgm:t>
    </dgm:pt>
    <dgm:pt modelId="{47218451-F41B-484A-964B-1D41A5DAF42E}" type="parTrans" cxnId="{59ED17CF-45CD-4059-98FB-C713C4B4C9D2}">
      <dgm:prSet/>
      <dgm:spPr/>
      <dgm:t>
        <a:bodyPr/>
        <a:lstStyle/>
        <a:p>
          <a:endParaRPr lang="fr-FR"/>
        </a:p>
      </dgm:t>
    </dgm:pt>
    <dgm:pt modelId="{483645E8-F857-45B8-8FE9-3894BED7D530}" type="sibTrans" cxnId="{59ED17CF-45CD-4059-98FB-C713C4B4C9D2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de l’enseignement secondaire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 custT="1"/>
      <dgm:spPr/>
      <dgm:t>
        <a:bodyPr/>
        <a:lstStyle/>
        <a:p>
          <a:r>
            <a:rPr lang="fr-FR" sz="2000" dirty="0"/>
            <a:t>Améliorer la formation initiale et continue des enseignants 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gouvernance/gestion des établissements scolaires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/>
      <dgm:spPr/>
      <dgm:t>
        <a:bodyPr/>
        <a:lstStyle/>
        <a:p>
          <a:r>
            <a:rPr lang="fr-FR" dirty="0"/>
            <a:t>Renforcer le rôle des chefs d’établissements,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8C5B26AB-2DFF-4E1A-A39F-3BFE174904FB}">
      <dgm:prSet phldrT="[Texte]"/>
      <dgm:spPr/>
      <dgm:t>
        <a:bodyPr/>
        <a:lstStyle/>
        <a:p>
          <a:r>
            <a:rPr lang="fr-FR" dirty="0"/>
            <a:t>Améliorer la gouvernance participative des établissements scolaires</a:t>
          </a:r>
        </a:p>
      </dgm:t>
    </dgm:pt>
    <dgm:pt modelId="{82BE8414-A6F1-451F-BF19-9CB6C672CEAF}" type="parTrans" cxnId="{D08B5E81-0736-4DDF-9A75-C81A2224628C}">
      <dgm:prSet/>
      <dgm:spPr/>
      <dgm:t>
        <a:bodyPr/>
        <a:lstStyle/>
        <a:p>
          <a:endParaRPr lang="fr-FR"/>
        </a:p>
      </dgm:t>
    </dgm:pt>
    <dgm:pt modelId="{2EF468A7-5609-4C18-9BDF-B5CF694D9B09}" type="sibTrans" cxnId="{D08B5E81-0736-4DDF-9A75-C81A2224628C}">
      <dgm:prSet/>
      <dgm:spPr/>
      <dgm:t>
        <a:bodyPr/>
        <a:lstStyle/>
        <a:p>
          <a:endParaRPr lang="fr-FR"/>
        </a:p>
      </dgm:t>
    </dgm:pt>
    <dgm:pt modelId="{CA498237-32F7-4B30-8F46-53E48D3206D8}">
      <dgm:prSet phldrT="[Texte]"/>
      <dgm:spPr/>
      <dgm:t>
        <a:bodyPr/>
        <a:lstStyle/>
        <a:p>
          <a:r>
            <a:rPr lang="fr-FR" dirty="0"/>
            <a:t>Créer un environnement scolaire attrayant et protecteur</a:t>
          </a:r>
        </a:p>
      </dgm:t>
    </dgm:pt>
    <dgm:pt modelId="{123D7D8B-3159-4A40-AAFD-649AC2D576F3}" type="parTrans" cxnId="{D0117F63-4616-4A1B-8F35-A17A9901A048}">
      <dgm:prSet/>
      <dgm:spPr/>
      <dgm:t>
        <a:bodyPr/>
        <a:lstStyle/>
        <a:p>
          <a:endParaRPr lang="fr-FR"/>
        </a:p>
      </dgm:t>
    </dgm:pt>
    <dgm:pt modelId="{8B1A522F-00E4-4CD7-B3F7-9B83A1020DA3}" type="sibTrans" cxnId="{D0117F63-4616-4A1B-8F35-A17A9901A048}">
      <dgm:prSet/>
      <dgm:spPr/>
      <dgm:t>
        <a:bodyPr/>
        <a:lstStyle/>
        <a:p>
          <a:endParaRPr lang="fr-FR"/>
        </a:p>
      </dgm:t>
    </dgm:pt>
    <dgm:pt modelId="{1FFA16A3-BA8D-4D57-8229-C42B9AF173AF}">
      <dgm:prSet phldrT="[Texte]" custT="1"/>
      <dgm:spPr/>
      <dgm:t>
        <a:bodyPr/>
        <a:lstStyle/>
        <a:p>
          <a:r>
            <a:rPr lang="fr-FR" sz="2000" dirty="0"/>
            <a:t>Doter les établissements en matériel didactique et pédagogique</a:t>
          </a:r>
        </a:p>
      </dgm:t>
    </dgm:pt>
    <dgm:pt modelId="{E0BC3C60-B3B2-401A-B553-A5788DDC6E22}" type="parTrans" cxnId="{F738DB48-A1F5-4F1D-A9A1-869C4027A1EC}">
      <dgm:prSet/>
      <dgm:spPr/>
      <dgm:t>
        <a:bodyPr/>
        <a:lstStyle/>
        <a:p>
          <a:endParaRPr lang="fr-FR"/>
        </a:p>
      </dgm:t>
    </dgm:pt>
    <dgm:pt modelId="{36F3926B-C703-4F4E-8F2C-2F99BDBF0812}" type="sibTrans" cxnId="{F738DB48-A1F5-4F1D-A9A1-869C4027A1EC}">
      <dgm:prSet/>
      <dgm:spPr/>
      <dgm:t>
        <a:bodyPr/>
        <a:lstStyle/>
        <a:p>
          <a:endParaRPr lang="fr-FR"/>
        </a:p>
      </dgm:t>
    </dgm:pt>
    <dgm:pt modelId="{C52CD04D-59DC-4522-8C6D-9982D2C37F6B}">
      <dgm:prSet phldrT="[Texte]" custT="1"/>
      <dgm:spPr/>
      <dgm:t>
        <a:bodyPr/>
        <a:lstStyle/>
        <a:p>
          <a:r>
            <a:rPr lang="fr-FR" sz="2000" dirty="0"/>
            <a:t>Améliorer l’encadrement pédagogique.</a:t>
          </a:r>
        </a:p>
      </dgm:t>
    </dgm:pt>
    <dgm:pt modelId="{32D60ECE-FBA8-4BB0-912D-6EEAF3DE3F70}" type="parTrans" cxnId="{74BB03CD-C80C-4C46-B3CC-FD6E734C7BD2}">
      <dgm:prSet/>
      <dgm:spPr/>
      <dgm:t>
        <a:bodyPr/>
        <a:lstStyle/>
        <a:p>
          <a:endParaRPr lang="fr-FR"/>
        </a:p>
      </dgm:t>
    </dgm:pt>
    <dgm:pt modelId="{6AACC52D-F452-4D5E-87AD-1A66E338FD73}" type="sibTrans" cxnId="{74BB03CD-C80C-4C46-B3CC-FD6E734C7BD2}">
      <dgm:prSet/>
      <dgm:spPr/>
      <dgm:t>
        <a:bodyPr/>
        <a:lstStyle/>
        <a:p>
          <a:endParaRPr lang="fr-FR"/>
        </a:p>
      </dgm:t>
    </dgm:pt>
    <dgm:pt modelId="{521F32F3-9703-4C8B-A8BF-18A31C774ABC}">
      <dgm:prSet phldrT="[Texte]"/>
      <dgm:spPr/>
      <dgm:t>
        <a:bodyPr/>
        <a:lstStyle/>
        <a:p>
          <a:r>
            <a:rPr lang="fr-FR" dirty="0"/>
            <a:t>Améliorer l’efficience (amélioration des taux d’achèvement) </a:t>
          </a:r>
        </a:p>
      </dgm:t>
    </dgm:pt>
    <dgm:pt modelId="{8DC7932C-2A34-44B3-B71E-4D951AAB96F9}" type="parTrans" cxnId="{9B5DB333-F108-427A-94E8-381205CDBA3E}">
      <dgm:prSet/>
      <dgm:spPr/>
      <dgm:t>
        <a:bodyPr/>
        <a:lstStyle/>
        <a:p>
          <a:endParaRPr lang="fr-FR"/>
        </a:p>
      </dgm:t>
    </dgm:pt>
    <dgm:pt modelId="{39B63117-7816-4AA0-B7F5-A1E1127C8A86}" type="sibTrans" cxnId="{9B5DB333-F108-427A-94E8-381205CDBA3E}">
      <dgm:prSet/>
      <dgm:spPr/>
      <dgm:t>
        <a:bodyPr/>
        <a:lstStyle/>
        <a:p>
          <a:endParaRPr lang="fr-FR"/>
        </a:p>
      </dgm:t>
    </dgm:pt>
    <dgm:pt modelId="{6AA6F2B7-5BED-4712-BDDA-7F15762AB8FF}">
      <dgm:prSet phldrT="[Texte]" custT="1"/>
      <dgm:spPr/>
      <dgm:t>
        <a:bodyPr/>
        <a:lstStyle/>
        <a:p>
          <a:r>
            <a:rPr lang="fr-FR" sz="2000" dirty="0"/>
            <a:t>Poursuivre la réforme curriculaire</a:t>
          </a:r>
        </a:p>
      </dgm:t>
    </dgm:pt>
    <dgm:pt modelId="{52BE7376-52A1-4293-B3D4-7F6AB4594FCA}" type="parTrans" cxnId="{43ADC534-6092-45FE-A9FD-E5DEC93707B4}">
      <dgm:prSet/>
      <dgm:spPr/>
      <dgm:t>
        <a:bodyPr/>
        <a:lstStyle/>
        <a:p>
          <a:endParaRPr lang="fr-FR"/>
        </a:p>
      </dgm:t>
    </dgm:pt>
    <dgm:pt modelId="{CE026419-3E24-43DD-8857-27D9CAF7EB4A}" type="sibTrans" cxnId="{43ADC534-6092-45FE-A9FD-E5DEC93707B4}">
      <dgm:prSet/>
      <dgm:spPr/>
      <dgm:t>
        <a:bodyPr/>
        <a:lstStyle/>
        <a:p>
          <a:endParaRPr lang="fr-FR"/>
        </a:p>
      </dgm:t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 custScaleY="123032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9B5DB333-F108-427A-94E8-381205CDBA3E}" srcId="{E9FF58BE-C220-4108-960B-66EC303F0F9B}" destId="{521F32F3-9703-4C8B-A8BF-18A31C774ABC}" srcOrd="1" destOrd="0" parTransId="{8DC7932C-2A34-44B3-B71E-4D951AAB96F9}" sibTransId="{39B63117-7816-4AA0-B7F5-A1E1127C8A86}"/>
    <dgm:cxn modelId="{43ADC534-6092-45FE-A9FD-E5DEC93707B4}" srcId="{E82F7BBF-F76B-4F37-A699-F2ECE07A9E8B}" destId="{6AA6F2B7-5BED-4712-BDDA-7F15762AB8FF}" srcOrd="1" destOrd="0" parTransId="{52BE7376-52A1-4293-B3D4-7F6AB4594FCA}" sibTransId="{CE026419-3E24-43DD-8857-27D9CAF7EB4A}"/>
    <dgm:cxn modelId="{D0117F63-4616-4A1B-8F35-A17A9901A048}" srcId="{E9FF58BE-C220-4108-960B-66EC303F0F9B}" destId="{CA498237-32F7-4B30-8F46-53E48D3206D8}" srcOrd="2" destOrd="0" parTransId="{123D7D8B-3159-4A40-AAFD-649AC2D576F3}" sibTransId="{8B1A522F-00E4-4CD7-B3F7-9B83A1020DA3}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F738DB48-A1F5-4F1D-A9A1-869C4027A1EC}" srcId="{E82F7BBF-F76B-4F37-A699-F2ECE07A9E8B}" destId="{1FFA16A3-BA8D-4D57-8229-C42B9AF173AF}" srcOrd="2" destOrd="0" parTransId="{E0BC3C60-B3B2-401A-B553-A5788DDC6E22}" sibTransId="{36F3926B-C703-4F4E-8F2C-2F99BDBF0812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D08B5E81-0736-4DDF-9A75-C81A2224628C}" srcId="{F1C9E7AA-5CAD-4892-B259-4BA8B283107E}" destId="{8C5B26AB-2DFF-4E1A-A39F-3BFE174904FB}" srcOrd="1" destOrd="0" parTransId="{82BE8414-A6F1-451F-BF19-9CB6C672CEAF}" sibTransId="{2EF468A7-5609-4C18-9BDF-B5CF694D9B09}"/>
    <dgm:cxn modelId="{08F83983-8717-4215-8DBE-761E0994EC52}" type="presOf" srcId="{C52CD04D-59DC-4522-8C6D-9982D2C37F6B}" destId="{A7003176-9A3A-4A7C-BDDF-BF27CA9EBD30}" srcOrd="0" destOrd="3" presId="urn:microsoft.com/office/officeart/2005/8/layout/vList5"/>
    <dgm:cxn modelId="{BE3C3384-0C53-4BD0-BE61-B621B1F4DC01}" type="presOf" srcId="{6AA6F2B7-5BED-4712-BDDA-7F15762AB8FF}" destId="{A7003176-9A3A-4A7C-BDDF-BF27CA9EBD30}" srcOrd="0" destOrd="1" presId="urn:microsoft.com/office/officeart/2005/8/layout/vList5"/>
    <dgm:cxn modelId="{0592F093-2EAD-4054-AE0C-A4B0498A6308}" type="presOf" srcId="{521F32F3-9703-4C8B-A8BF-18A31C774ABC}" destId="{4DA1386B-5E55-4D13-89B8-144E9226E980}" srcOrd="0" destOrd="1" presId="urn:microsoft.com/office/officeart/2005/8/layout/vList5"/>
    <dgm:cxn modelId="{BC363496-AE6F-4429-AFD3-82D342996FBA}" type="presOf" srcId="{9ED7CEA6-EAE8-4958-A420-9CB777950497}" destId="{4DA1386B-5E55-4D13-89B8-144E9226E980}" srcOrd="0" destOrd="0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5CE8F297-DAF9-4860-A6B0-0EDFC7FE44AD}" type="presOf" srcId="{1FFA16A3-BA8D-4D57-8229-C42B9AF173AF}" destId="{A7003176-9A3A-4A7C-BDDF-BF27CA9EBD30}" srcOrd="0" destOrd="2" presId="urn:microsoft.com/office/officeart/2005/8/layout/vList5"/>
    <dgm:cxn modelId="{727DB4C2-E2B9-4802-B62A-233F84882248}" type="presOf" srcId="{CA498237-32F7-4B30-8F46-53E48D3206D8}" destId="{4DA1386B-5E55-4D13-89B8-144E9226E980}" srcOrd="0" destOrd="2" presId="urn:microsoft.com/office/officeart/2005/8/layout/vList5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32CF41CC-AFBD-4777-890C-FC1130281A39}" type="presOf" srcId="{8C5B26AB-2DFF-4E1A-A39F-3BFE174904FB}" destId="{048EB2A2-CC66-470D-87B5-250B8C933CF6}" srcOrd="0" destOrd="1" presId="urn:microsoft.com/office/officeart/2005/8/layout/vList5"/>
    <dgm:cxn modelId="{74BB03CD-C80C-4C46-B3CC-FD6E734C7BD2}" srcId="{E82F7BBF-F76B-4F37-A699-F2ECE07A9E8B}" destId="{C52CD04D-59DC-4522-8C6D-9982D2C37F6B}" srcOrd="3" destOrd="0" parTransId="{32D60ECE-FBA8-4BB0-912D-6EEAF3DE3F70}" sibTransId="{6AACC52D-F452-4D5E-87AD-1A66E338FD73}"/>
    <dgm:cxn modelId="{59ED17CF-45CD-4059-98FB-C713C4B4C9D2}" srcId="{E9FF58BE-C220-4108-960B-66EC303F0F9B}" destId="{9ED7CEA6-EAE8-4958-A420-9CB777950497}" srcOrd="0" destOrd="0" parTransId="{47218451-F41B-484A-964B-1D41A5DAF42E}" sibTransId="{483645E8-F857-45B8-8FE9-3894BED7D530}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équitable à l’enseignement technique et la formation professionnelle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9ED7CEA6-EAE8-4958-A420-9CB777950497}">
      <dgm:prSet phldrT="[Texte]"/>
      <dgm:spPr/>
      <dgm:t>
        <a:bodyPr/>
        <a:lstStyle/>
        <a:p>
          <a:r>
            <a:rPr lang="fr-FR" dirty="0"/>
            <a:t>Offrir des informations sur les formations disponibles et les débouchés</a:t>
          </a:r>
        </a:p>
      </dgm:t>
    </dgm:pt>
    <dgm:pt modelId="{47218451-F41B-484A-964B-1D41A5DAF42E}" type="parTrans" cxnId="{59ED17CF-45CD-4059-98FB-C713C4B4C9D2}">
      <dgm:prSet/>
      <dgm:spPr/>
      <dgm:t>
        <a:bodyPr/>
        <a:lstStyle/>
        <a:p>
          <a:endParaRPr lang="fr-FR"/>
        </a:p>
      </dgm:t>
    </dgm:pt>
    <dgm:pt modelId="{483645E8-F857-45B8-8FE9-3894BED7D530}" type="sibTrans" cxnId="{59ED17CF-45CD-4059-98FB-C713C4B4C9D2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de l’enseignement technique et la formation professionnelle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 custT="1"/>
      <dgm:spPr/>
      <dgm:t>
        <a:bodyPr/>
        <a:lstStyle/>
        <a:p>
          <a:r>
            <a:rPr lang="fr-FR" sz="2000" dirty="0"/>
            <a:t>Mettre à la disposition de l’ETFP des formateurs qualifiés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gestion et le pilotage de l’ETFP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 custT="1"/>
      <dgm:spPr/>
      <dgm:t>
        <a:bodyPr/>
        <a:lstStyle/>
        <a:p>
          <a:r>
            <a:rPr lang="fr-FR" sz="1800" dirty="0"/>
            <a:t>Améliorer la gouvernance du sous-secteur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CA498237-32F7-4B30-8F46-53E48D3206D8}">
      <dgm:prSet phldrT="[Texte]"/>
      <dgm:spPr/>
      <dgm:t>
        <a:bodyPr/>
        <a:lstStyle/>
        <a:p>
          <a:r>
            <a:rPr lang="fr-FR" dirty="0"/>
            <a:t>Renforcer l’accès à la formation professionnelle duale</a:t>
          </a:r>
        </a:p>
      </dgm:t>
    </dgm:pt>
    <dgm:pt modelId="{123D7D8B-3159-4A40-AAFD-649AC2D576F3}" type="parTrans" cxnId="{D0117F63-4616-4A1B-8F35-A17A9901A048}">
      <dgm:prSet/>
      <dgm:spPr/>
      <dgm:t>
        <a:bodyPr/>
        <a:lstStyle/>
        <a:p>
          <a:endParaRPr lang="fr-FR"/>
        </a:p>
      </dgm:t>
    </dgm:pt>
    <dgm:pt modelId="{8B1A522F-00E4-4CD7-B3F7-9B83A1020DA3}" type="sibTrans" cxnId="{D0117F63-4616-4A1B-8F35-A17A9901A048}">
      <dgm:prSet/>
      <dgm:spPr/>
      <dgm:t>
        <a:bodyPr/>
        <a:lstStyle/>
        <a:p>
          <a:endParaRPr lang="fr-FR"/>
        </a:p>
      </dgm:t>
    </dgm:pt>
    <dgm:pt modelId="{521F32F3-9703-4C8B-A8BF-18A31C774ABC}">
      <dgm:prSet phldrT="[Texte]"/>
      <dgm:spPr/>
      <dgm:t>
        <a:bodyPr/>
        <a:lstStyle/>
        <a:p>
          <a:r>
            <a:rPr lang="fr-FR" dirty="0"/>
            <a:t>Améliorer la pertinence de l’offre de formation </a:t>
          </a:r>
        </a:p>
      </dgm:t>
    </dgm:pt>
    <dgm:pt modelId="{8DC7932C-2A34-44B3-B71E-4D951AAB96F9}" type="parTrans" cxnId="{9B5DB333-F108-427A-94E8-381205CDBA3E}">
      <dgm:prSet/>
      <dgm:spPr/>
      <dgm:t>
        <a:bodyPr/>
        <a:lstStyle/>
        <a:p>
          <a:endParaRPr lang="fr-FR"/>
        </a:p>
      </dgm:t>
    </dgm:pt>
    <dgm:pt modelId="{39B63117-7816-4AA0-B7F5-A1E1127C8A86}" type="sibTrans" cxnId="{9B5DB333-F108-427A-94E8-381205CDBA3E}">
      <dgm:prSet/>
      <dgm:spPr/>
      <dgm:t>
        <a:bodyPr/>
        <a:lstStyle/>
        <a:p>
          <a:endParaRPr lang="fr-FR"/>
        </a:p>
      </dgm:t>
    </dgm:pt>
    <dgm:pt modelId="{0495902A-FED9-4D27-9382-4569AB966852}">
      <dgm:prSet phldrT="[Texte]"/>
      <dgm:spPr/>
      <dgm:t>
        <a:bodyPr/>
        <a:lstStyle/>
        <a:p>
          <a:r>
            <a:rPr lang="fr-FR" dirty="0"/>
            <a:t>Augmenter les capacités d’accueil</a:t>
          </a:r>
        </a:p>
      </dgm:t>
    </dgm:pt>
    <dgm:pt modelId="{4EC09867-40E3-4D91-A19D-D0A1ED29DEC5}" type="parTrans" cxnId="{6A38D2DA-0741-472E-8F84-C246F351A848}">
      <dgm:prSet/>
      <dgm:spPr/>
      <dgm:t>
        <a:bodyPr/>
        <a:lstStyle/>
        <a:p>
          <a:endParaRPr lang="fr-FR"/>
        </a:p>
      </dgm:t>
    </dgm:pt>
    <dgm:pt modelId="{CFB7C4CB-C074-4055-9AB1-724C5316781A}" type="sibTrans" cxnId="{6A38D2DA-0741-472E-8F84-C246F351A848}">
      <dgm:prSet/>
      <dgm:spPr/>
      <dgm:t>
        <a:bodyPr/>
        <a:lstStyle/>
        <a:p>
          <a:endParaRPr lang="fr-FR"/>
        </a:p>
      </dgm:t>
    </dgm:pt>
    <dgm:pt modelId="{4233E951-FB96-4B5E-8B99-E784EE236348}">
      <dgm:prSet phldrT="[Texte]"/>
      <dgm:spPr/>
      <dgm:t>
        <a:bodyPr/>
        <a:lstStyle/>
        <a:p>
          <a:r>
            <a:rPr lang="fr-FR" dirty="0"/>
            <a:t>Développer les formations professionnelles de courte durée, etc.</a:t>
          </a:r>
        </a:p>
      </dgm:t>
    </dgm:pt>
    <dgm:pt modelId="{06969543-C4BA-4068-B18D-87EFF9D80521}" type="parTrans" cxnId="{CB0D132C-8924-4138-B03C-B0F9984EC18B}">
      <dgm:prSet/>
      <dgm:spPr/>
      <dgm:t>
        <a:bodyPr/>
        <a:lstStyle/>
        <a:p>
          <a:endParaRPr lang="fr-FR"/>
        </a:p>
      </dgm:t>
    </dgm:pt>
    <dgm:pt modelId="{98B52710-FD79-4ED5-A0E7-932ABD2CCD53}" type="sibTrans" cxnId="{CB0D132C-8924-4138-B03C-B0F9984EC18B}">
      <dgm:prSet/>
      <dgm:spPr/>
      <dgm:t>
        <a:bodyPr/>
        <a:lstStyle/>
        <a:p>
          <a:endParaRPr lang="fr-FR"/>
        </a:p>
      </dgm:t>
    </dgm:pt>
    <dgm:pt modelId="{870DEE7D-E0D9-49B7-83B5-484CBEA25711}">
      <dgm:prSet phldrT="[Texte]" custT="1"/>
      <dgm:spPr/>
      <dgm:t>
        <a:bodyPr/>
        <a:lstStyle/>
        <a:p>
          <a:r>
            <a:rPr lang="fr-FR" sz="2000" dirty="0"/>
            <a:t>Mettre en œuvre une ingénierie de formation selon l’APC</a:t>
          </a:r>
        </a:p>
      </dgm:t>
    </dgm:pt>
    <dgm:pt modelId="{483E4F23-FAE8-4BA8-9FB7-27C5D2945C57}" type="parTrans" cxnId="{AB427B7E-8AEA-4E0C-A966-6C1B2344448D}">
      <dgm:prSet/>
      <dgm:spPr/>
      <dgm:t>
        <a:bodyPr/>
        <a:lstStyle/>
        <a:p>
          <a:endParaRPr lang="fr-FR"/>
        </a:p>
      </dgm:t>
    </dgm:pt>
    <dgm:pt modelId="{BE9FABB9-5514-486A-93B0-D8C175A8C830}" type="sibTrans" cxnId="{AB427B7E-8AEA-4E0C-A966-6C1B2344448D}">
      <dgm:prSet/>
      <dgm:spPr/>
      <dgm:t>
        <a:bodyPr/>
        <a:lstStyle/>
        <a:p>
          <a:endParaRPr lang="fr-FR"/>
        </a:p>
      </dgm:t>
    </dgm:pt>
    <dgm:pt modelId="{EA9489E4-8A41-480A-B6AB-F5145CD7433A}">
      <dgm:prSet phldrT="[Texte]" custT="1"/>
      <dgm:spPr/>
      <dgm:t>
        <a:bodyPr/>
        <a:lstStyle/>
        <a:p>
          <a:r>
            <a:rPr lang="fr-FR" sz="2000" dirty="0"/>
            <a:t>Améliorer les conditions d’apprentissage dans les établissements et centres de formation</a:t>
          </a:r>
        </a:p>
      </dgm:t>
    </dgm:pt>
    <dgm:pt modelId="{4DAFE888-043F-426B-9FA1-0E9448A342D1}" type="parTrans" cxnId="{56A80491-19B5-490F-964D-5B15C304D48A}">
      <dgm:prSet/>
      <dgm:spPr/>
      <dgm:t>
        <a:bodyPr/>
        <a:lstStyle/>
        <a:p>
          <a:endParaRPr lang="fr-FR"/>
        </a:p>
      </dgm:t>
    </dgm:pt>
    <dgm:pt modelId="{49907CC8-3124-465A-92E9-5E2666BB841E}" type="sibTrans" cxnId="{56A80491-19B5-490F-964D-5B15C304D48A}">
      <dgm:prSet/>
      <dgm:spPr/>
      <dgm:t>
        <a:bodyPr/>
        <a:lstStyle/>
        <a:p>
          <a:endParaRPr lang="fr-FR"/>
        </a:p>
      </dgm:t>
    </dgm:pt>
    <dgm:pt modelId="{F9D7620E-C83C-425F-955D-A77913F61506}">
      <dgm:prSet phldrT="[Texte]" custT="1"/>
      <dgm:spPr/>
      <dgm:t>
        <a:bodyPr/>
        <a:lstStyle/>
        <a:p>
          <a:r>
            <a:rPr lang="fr-FR" sz="2000" dirty="0"/>
            <a:t>Impliquer davantage le secteur privé</a:t>
          </a:r>
        </a:p>
      </dgm:t>
    </dgm:pt>
    <dgm:pt modelId="{D9B89E27-11B0-4F0F-9B84-28FC2A22B44C}" type="parTrans" cxnId="{FC114CF5-3B8B-47A6-AB00-BEB9167C43C6}">
      <dgm:prSet/>
      <dgm:spPr/>
      <dgm:t>
        <a:bodyPr/>
        <a:lstStyle/>
        <a:p>
          <a:endParaRPr lang="fr-FR"/>
        </a:p>
      </dgm:t>
    </dgm:pt>
    <dgm:pt modelId="{BE95039E-8D9F-477B-9910-998089AD969D}" type="sibTrans" cxnId="{FC114CF5-3B8B-47A6-AB00-BEB9167C43C6}">
      <dgm:prSet/>
      <dgm:spPr/>
      <dgm:t>
        <a:bodyPr/>
        <a:lstStyle/>
        <a:p>
          <a:endParaRPr lang="fr-FR"/>
        </a:p>
      </dgm:t>
    </dgm:pt>
    <dgm:pt modelId="{B08CA876-6229-4203-9D72-387B8FEC368C}">
      <dgm:prSet phldrT="[Texte]" custT="1"/>
      <dgm:spPr/>
      <dgm:t>
        <a:bodyPr/>
        <a:lstStyle/>
        <a:p>
          <a:r>
            <a:rPr lang="fr-FR" sz="1800" dirty="0"/>
            <a:t>Améliorer la gouvernance des établissements et centres de formation</a:t>
          </a:r>
        </a:p>
      </dgm:t>
    </dgm:pt>
    <dgm:pt modelId="{B6FF9531-15D7-4C7A-B492-C8E269789F57}" type="parTrans" cxnId="{92A7EC95-5B98-46D0-9FAC-48E09E098088}">
      <dgm:prSet/>
      <dgm:spPr/>
    </dgm:pt>
    <dgm:pt modelId="{8F3F6BA8-B80F-45F0-9383-4E9E16F762A2}" type="sibTrans" cxnId="{92A7EC95-5B98-46D0-9FAC-48E09E098088}">
      <dgm:prSet/>
      <dgm:spPr/>
    </dgm:pt>
    <dgm:pt modelId="{5E2D6BC3-AA0B-4654-BD3A-3BDFF584720E}">
      <dgm:prSet phldrT="[Texte]" custT="1"/>
      <dgm:spPr/>
      <dgm:t>
        <a:bodyPr/>
        <a:lstStyle/>
        <a:p>
          <a:r>
            <a:rPr lang="fr-FR" sz="1800" dirty="0"/>
            <a:t>Renforcer le système de gestion des informations de l’ETFP</a:t>
          </a:r>
        </a:p>
      </dgm:t>
    </dgm:pt>
    <dgm:pt modelId="{545B529A-3A3B-43C3-81AD-8C432038510A}" type="parTrans" cxnId="{30F5B2A6-A5A5-465D-987F-227435C11D2A}">
      <dgm:prSet/>
      <dgm:spPr/>
    </dgm:pt>
    <dgm:pt modelId="{9712F636-750C-4D72-AF92-1529294FFE4A}" type="sibTrans" cxnId="{30F5B2A6-A5A5-465D-987F-227435C11D2A}">
      <dgm:prSet/>
      <dgm:spPr/>
    </dgm:pt>
    <dgm:pt modelId="{9ADD02EC-E12E-421E-9810-57A388C4DD44}">
      <dgm:prSet phldrT="[Texte]" custT="1"/>
      <dgm:spPr/>
      <dgm:t>
        <a:bodyPr/>
        <a:lstStyle/>
        <a:p>
          <a:r>
            <a:rPr lang="fr-FR" sz="1800" dirty="0"/>
            <a:t>Disposer de financements adéquats pour le sous-secteur</a:t>
          </a:r>
        </a:p>
      </dgm:t>
    </dgm:pt>
    <dgm:pt modelId="{B4DE949F-2AD3-4D9F-B307-64D425B735B6}" type="parTrans" cxnId="{D102DE2B-5A25-45E6-9E04-A0168B3CE6B0}">
      <dgm:prSet/>
      <dgm:spPr/>
    </dgm:pt>
    <dgm:pt modelId="{A94AD90A-CB2B-4963-9EFA-EEA2FDC1D2BD}" type="sibTrans" cxnId="{D102DE2B-5A25-45E6-9E04-A0168B3CE6B0}">
      <dgm:prSet/>
      <dgm:spPr/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 custScaleY="110707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 custScaleY="123032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FFFF419-8A86-423A-86AB-3DF1F6C4E89F}" type="presOf" srcId="{4233E951-FB96-4B5E-8B99-E784EE236348}" destId="{4DA1386B-5E55-4D13-89B8-144E9226E980}" srcOrd="0" destOrd="4" presId="urn:microsoft.com/office/officeart/2005/8/layout/vList5"/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D102DE2B-5A25-45E6-9E04-A0168B3CE6B0}" srcId="{F1C9E7AA-5CAD-4892-B259-4BA8B283107E}" destId="{9ADD02EC-E12E-421E-9810-57A388C4DD44}" srcOrd="3" destOrd="0" parTransId="{B4DE949F-2AD3-4D9F-B307-64D425B735B6}" sibTransId="{A94AD90A-CB2B-4963-9EFA-EEA2FDC1D2BD}"/>
    <dgm:cxn modelId="{CB0D132C-8924-4138-B03C-B0F9984EC18B}" srcId="{E9FF58BE-C220-4108-960B-66EC303F0F9B}" destId="{4233E951-FB96-4B5E-8B99-E784EE236348}" srcOrd="4" destOrd="0" parTransId="{06969543-C4BA-4068-B18D-87EFF9D80521}" sibTransId="{98B52710-FD79-4ED5-A0E7-932ABD2CCD53}"/>
    <dgm:cxn modelId="{9B5DB333-F108-427A-94E8-381205CDBA3E}" srcId="{E9FF58BE-C220-4108-960B-66EC303F0F9B}" destId="{521F32F3-9703-4C8B-A8BF-18A31C774ABC}" srcOrd="2" destOrd="0" parTransId="{8DC7932C-2A34-44B3-B71E-4D951AAB96F9}" sibTransId="{39B63117-7816-4AA0-B7F5-A1E1127C8A86}"/>
    <dgm:cxn modelId="{7205923B-5C6C-4F35-8847-F809637A1BE7}" type="presOf" srcId="{5E2D6BC3-AA0B-4654-BD3A-3BDFF584720E}" destId="{048EB2A2-CC66-470D-87B5-250B8C933CF6}" srcOrd="0" destOrd="2" presId="urn:microsoft.com/office/officeart/2005/8/layout/vList5"/>
    <dgm:cxn modelId="{32D26B3D-85CC-4A02-93B9-5DA72B534CE1}" type="presOf" srcId="{870DEE7D-E0D9-49B7-83B5-484CBEA25711}" destId="{A7003176-9A3A-4A7C-BDDF-BF27CA9EBD30}" srcOrd="0" destOrd="1" presId="urn:microsoft.com/office/officeart/2005/8/layout/vList5"/>
    <dgm:cxn modelId="{8CA3175B-45A6-4B88-8CFC-FC30D0B72AD0}" type="presOf" srcId="{B08CA876-6229-4203-9D72-387B8FEC368C}" destId="{048EB2A2-CC66-470D-87B5-250B8C933CF6}" srcOrd="0" destOrd="1" presId="urn:microsoft.com/office/officeart/2005/8/layout/vList5"/>
    <dgm:cxn modelId="{D0117F63-4616-4A1B-8F35-A17A9901A048}" srcId="{E9FF58BE-C220-4108-960B-66EC303F0F9B}" destId="{CA498237-32F7-4B30-8F46-53E48D3206D8}" srcOrd="3" destOrd="0" parTransId="{123D7D8B-3159-4A40-AAFD-649AC2D576F3}" sibTransId="{8B1A522F-00E4-4CD7-B3F7-9B83A1020DA3}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B5FEEC51-58C7-4F10-8FBE-C98736A57477}" type="presOf" srcId="{EA9489E4-8A41-480A-B6AB-F5145CD7433A}" destId="{A7003176-9A3A-4A7C-BDDF-BF27CA9EBD30}" srcOrd="0" destOrd="2" presId="urn:microsoft.com/office/officeart/2005/8/layout/vList5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AB427B7E-8AEA-4E0C-A966-6C1B2344448D}" srcId="{E82F7BBF-F76B-4F37-A699-F2ECE07A9E8B}" destId="{870DEE7D-E0D9-49B7-83B5-484CBEA25711}" srcOrd="1" destOrd="0" parTransId="{483E4F23-FAE8-4BA8-9FB7-27C5D2945C57}" sibTransId="{BE9FABB9-5514-486A-93B0-D8C175A8C830}"/>
    <dgm:cxn modelId="{56A80491-19B5-490F-964D-5B15C304D48A}" srcId="{E82F7BBF-F76B-4F37-A699-F2ECE07A9E8B}" destId="{EA9489E4-8A41-480A-B6AB-F5145CD7433A}" srcOrd="2" destOrd="0" parTransId="{4DAFE888-043F-426B-9FA1-0E9448A342D1}" sibTransId="{49907CC8-3124-465A-92E9-5E2666BB841E}"/>
    <dgm:cxn modelId="{90B82293-3B59-4DA6-8C7F-F02E2841168F}" type="presOf" srcId="{9ADD02EC-E12E-421E-9810-57A388C4DD44}" destId="{048EB2A2-CC66-470D-87B5-250B8C933CF6}" srcOrd="0" destOrd="3" presId="urn:microsoft.com/office/officeart/2005/8/layout/vList5"/>
    <dgm:cxn modelId="{0592F093-2EAD-4054-AE0C-A4B0498A6308}" type="presOf" srcId="{521F32F3-9703-4C8B-A8BF-18A31C774ABC}" destId="{4DA1386B-5E55-4D13-89B8-144E9226E980}" srcOrd="0" destOrd="2" presId="urn:microsoft.com/office/officeart/2005/8/layout/vList5"/>
    <dgm:cxn modelId="{92A7EC95-5B98-46D0-9FAC-48E09E098088}" srcId="{F1C9E7AA-5CAD-4892-B259-4BA8B283107E}" destId="{B08CA876-6229-4203-9D72-387B8FEC368C}" srcOrd="1" destOrd="0" parTransId="{B6FF9531-15D7-4C7A-B492-C8E269789F57}" sibTransId="{8F3F6BA8-B80F-45F0-9383-4E9E16F762A2}"/>
    <dgm:cxn modelId="{BC363496-AE6F-4429-AFD3-82D342996FBA}" type="presOf" srcId="{9ED7CEA6-EAE8-4958-A420-9CB777950497}" destId="{4DA1386B-5E55-4D13-89B8-144E9226E980}" srcOrd="0" destOrd="0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30F5B2A6-A5A5-465D-987F-227435C11D2A}" srcId="{F1C9E7AA-5CAD-4892-B259-4BA8B283107E}" destId="{5E2D6BC3-AA0B-4654-BD3A-3BDFF584720E}" srcOrd="2" destOrd="0" parTransId="{545B529A-3A3B-43C3-81AD-8C432038510A}" sibTransId="{9712F636-750C-4D72-AF92-1529294FFE4A}"/>
    <dgm:cxn modelId="{727DB4C2-E2B9-4802-B62A-233F84882248}" type="presOf" srcId="{CA498237-32F7-4B30-8F46-53E48D3206D8}" destId="{4DA1386B-5E55-4D13-89B8-144E9226E980}" srcOrd="0" destOrd="3" presId="urn:microsoft.com/office/officeart/2005/8/layout/vList5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59ED17CF-45CD-4059-98FB-C713C4B4C9D2}" srcId="{E9FF58BE-C220-4108-960B-66EC303F0F9B}" destId="{9ED7CEA6-EAE8-4958-A420-9CB777950497}" srcOrd="0" destOrd="0" parTransId="{47218451-F41B-484A-964B-1D41A5DAF42E}" sibTransId="{483645E8-F857-45B8-8FE9-3894BED7D530}"/>
    <dgm:cxn modelId="{6A38D2DA-0741-472E-8F84-C246F351A848}" srcId="{E9FF58BE-C220-4108-960B-66EC303F0F9B}" destId="{0495902A-FED9-4D27-9382-4569AB966852}" srcOrd="1" destOrd="0" parTransId="{4EC09867-40E3-4D91-A19D-D0A1ED29DEC5}" sibTransId="{CFB7C4CB-C074-4055-9AB1-724C5316781A}"/>
    <dgm:cxn modelId="{EAADEBE3-E9AD-4DD4-B822-989B1040C745}" type="presOf" srcId="{0495902A-FED9-4D27-9382-4569AB966852}" destId="{4DA1386B-5E55-4D13-89B8-144E9226E980}" srcOrd="0" destOrd="1" presId="urn:microsoft.com/office/officeart/2005/8/layout/vList5"/>
    <dgm:cxn modelId="{FC114CF5-3B8B-47A6-AB00-BEB9167C43C6}" srcId="{E82F7BBF-F76B-4F37-A699-F2ECE07A9E8B}" destId="{F9D7620E-C83C-425F-955D-A77913F61506}" srcOrd="3" destOrd="0" parTransId="{D9B89E27-11B0-4F0F-9B84-28FC2A22B44C}" sibTransId="{BE95039E-8D9F-477B-9910-998089AD969D}"/>
    <dgm:cxn modelId="{2460CFF5-A707-46E8-8DB1-E1519E0CAD78}" type="presOf" srcId="{F9D7620E-C83C-425F-955D-A77913F61506}" destId="{A7003176-9A3A-4A7C-BDDF-BF27CA9EBD30}" srcOrd="0" destOrd="3" presId="urn:microsoft.com/office/officeart/2005/8/layout/vList5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et l’équité de l’AENF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9ED7CEA6-EAE8-4958-A420-9CB777950497}">
      <dgm:prSet phldrT="[Texte]" custT="1"/>
      <dgm:spPr/>
      <dgm:t>
        <a:bodyPr/>
        <a:lstStyle/>
        <a:p>
          <a:r>
            <a:rPr lang="fr-FR" sz="2000" dirty="0"/>
            <a:t>Diversifier l’offre d’AENF et la rendre accessible à tous</a:t>
          </a:r>
        </a:p>
      </dgm:t>
    </dgm:pt>
    <dgm:pt modelId="{47218451-F41B-484A-964B-1D41A5DAF42E}" type="parTrans" cxnId="{59ED17CF-45CD-4059-98FB-C713C4B4C9D2}">
      <dgm:prSet/>
      <dgm:spPr/>
      <dgm:t>
        <a:bodyPr/>
        <a:lstStyle/>
        <a:p>
          <a:endParaRPr lang="fr-FR"/>
        </a:p>
      </dgm:t>
    </dgm:pt>
    <dgm:pt modelId="{483645E8-F857-45B8-8FE9-3894BED7D530}" type="sibTrans" cxnId="{59ED17CF-45CD-4059-98FB-C713C4B4C9D2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de  l’AENF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 custT="1"/>
      <dgm:spPr/>
      <dgm:t>
        <a:bodyPr/>
        <a:lstStyle/>
        <a:p>
          <a:r>
            <a:rPr lang="fr-FR" sz="2000" dirty="0"/>
            <a:t>Améliorer la qualité des programmes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gestion de l’AENF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 custT="1"/>
      <dgm:spPr/>
      <dgm:t>
        <a:bodyPr/>
        <a:lstStyle/>
        <a:p>
          <a:r>
            <a:rPr lang="fr-FR" sz="2400" dirty="0"/>
            <a:t>Renforcer le pilotage de l’AENF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041B1474-102D-4614-BAA9-D75B95D3B3C6}">
      <dgm:prSet phldrT="[Texte]"/>
      <dgm:spPr/>
      <dgm:t>
        <a:bodyPr/>
        <a:lstStyle/>
        <a:p>
          <a:endParaRPr lang="fr-FR" sz="1700" dirty="0"/>
        </a:p>
      </dgm:t>
    </dgm:pt>
    <dgm:pt modelId="{D84812CB-2AFD-4DB2-869E-73585C5500CB}" type="parTrans" cxnId="{4E1DF5A5-CA21-46D2-8F85-C0AAD9912224}">
      <dgm:prSet/>
      <dgm:spPr/>
    </dgm:pt>
    <dgm:pt modelId="{DFB3F741-AAAA-418D-AC08-77219D062C96}" type="sibTrans" cxnId="{4E1DF5A5-CA21-46D2-8F85-C0AAD9912224}">
      <dgm:prSet/>
      <dgm:spPr/>
    </dgm:pt>
    <dgm:pt modelId="{785F7BA8-7703-46B4-AF84-814DE588B5A9}">
      <dgm:prSet phldrT="[Texte]" custT="1"/>
      <dgm:spPr/>
      <dgm:t>
        <a:bodyPr/>
        <a:lstStyle/>
        <a:p>
          <a:r>
            <a:rPr lang="fr-FR" sz="2000" dirty="0"/>
            <a:t>Elargir l’accès aux programmes d’AENF</a:t>
          </a:r>
        </a:p>
      </dgm:t>
    </dgm:pt>
    <dgm:pt modelId="{BA41F925-F7B0-43E3-ADC6-C6FD1DCA2984}" type="parTrans" cxnId="{567261C0-D3A1-46F2-883B-6155B163D7A8}">
      <dgm:prSet/>
      <dgm:spPr/>
    </dgm:pt>
    <dgm:pt modelId="{C0FDDE5E-63B9-4E88-B2E4-5BD24DA7A447}" type="sibTrans" cxnId="{567261C0-D3A1-46F2-883B-6155B163D7A8}">
      <dgm:prSet/>
      <dgm:spPr/>
    </dgm:pt>
    <dgm:pt modelId="{F3F5876E-1BBB-416E-BC19-853754C6AA89}">
      <dgm:prSet phldrT="[Texte]" custT="1"/>
      <dgm:spPr/>
      <dgm:t>
        <a:bodyPr/>
        <a:lstStyle/>
        <a:p>
          <a:r>
            <a:rPr lang="fr-FR" sz="2000" dirty="0"/>
            <a:t>Encourager l’alphabétisation des femmes</a:t>
          </a:r>
        </a:p>
      </dgm:t>
    </dgm:pt>
    <dgm:pt modelId="{EAE8A00A-76CA-4EDF-94BC-A4BD28E055F7}" type="parTrans" cxnId="{73C9E8C3-2DAB-4DCB-A984-D83CF7CE86B9}">
      <dgm:prSet/>
      <dgm:spPr/>
    </dgm:pt>
    <dgm:pt modelId="{2064DD7A-5AD6-44A5-8C7A-FF01D78BA378}" type="sibTrans" cxnId="{73C9E8C3-2DAB-4DCB-A984-D83CF7CE86B9}">
      <dgm:prSet/>
      <dgm:spPr/>
    </dgm:pt>
    <dgm:pt modelId="{584C0105-965C-4856-9B5C-2FB9E75BE7F9}">
      <dgm:prSet phldrT="[Texte]" custT="1"/>
      <dgm:spPr/>
      <dgm:t>
        <a:bodyPr/>
        <a:lstStyle/>
        <a:p>
          <a:r>
            <a:rPr lang="fr-FR" sz="2000" dirty="0"/>
            <a:t>Impliquer les acteurs de la société civile et du secteur privé</a:t>
          </a:r>
        </a:p>
      </dgm:t>
    </dgm:pt>
    <dgm:pt modelId="{9738A882-F7D6-4B66-AF6D-498F70D03705}" type="parTrans" cxnId="{C77FC3A1-0B9B-40E7-8399-D03F22CF138F}">
      <dgm:prSet/>
      <dgm:spPr/>
    </dgm:pt>
    <dgm:pt modelId="{C4D55A61-0F6B-4918-A33D-6F4D080B648E}" type="sibTrans" cxnId="{C77FC3A1-0B9B-40E7-8399-D03F22CF138F}">
      <dgm:prSet/>
      <dgm:spPr/>
    </dgm:pt>
    <dgm:pt modelId="{CBBDA69A-991B-45BE-9183-4BDD74E086B6}">
      <dgm:prSet phldrT="[Texte]" custT="1"/>
      <dgm:spPr/>
      <dgm:t>
        <a:bodyPr/>
        <a:lstStyle/>
        <a:p>
          <a:r>
            <a:rPr lang="fr-FR" sz="2000" dirty="0"/>
            <a:t>Adapter les curricula au contexte socioéconomique</a:t>
          </a:r>
        </a:p>
      </dgm:t>
    </dgm:pt>
    <dgm:pt modelId="{2A3ED71C-98B3-4780-B942-89650F4536CB}" type="parTrans" cxnId="{B9D65287-5EE1-4AAC-93E1-DD7E3B9CCF46}">
      <dgm:prSet/>
      <dgm:spPr/>
    </dgm:pt>
    <dgm:pt modelId="{8D7D1B03-ACB8-4FF3-BA08-6CD630385F1B}" type="sibTrans" cxnId="{B9D65287-5EE1-4AAC-93E1-DD7E3B9CCF46}">
      <dgm:prSet/>
      <dgm:spPr/>
    </dgm:pt>
    <dgm:pt modelId="{C97F2054-6B5C-4831-BFBC-D4DAD5E39286}">
      <dgm:prSet phldrT="[Texte]" custT="1"/>
      <dgm:spPr/>
      <dgm:t>
        <a:bodyPr/>
        <a:lstStyle/>
        <a:p>
          <a:r>
            <a:rPr lang="fr-FR" sz="2000" dirty="0"/>
            <a:t>Renforcer les capacités des acteurs</a:t>
          </a:r>
        </a:p>
      </dgm:t>
    </dgm:pt>
    <dgm:pt modelId="{EC5933A8-AF37-4001-B709-9BDA77A89670}" type="parTrans" cxnId="{37A8C33E-41CF-4BD9-B6F0-EB489F1DEAA4}">
      <dgm:prSet/>
      <dgm:spPr/>
    </dgm:pt>
    <dgm:pt modelId="{2C34A5BA-2E80-4B07-9B56-96794F033866}" type="sibTrans" cxnId="{37A8C33E-41CF-4BD9-B6F0-EB489F1DEAA4}">
      <dgm:prSet/>
      <dgm:spPr/>
    </dgm:pt>
    <dgm:pt modelId="{8A22BEC8-B0B2-4884-979D-AFC13172301D}">
      <dgm:prSet phldrT="[Texte]" custT="1"/>
      <dgm:spPr/>
      <dgm:t>
        <a:bodyPr/>
        <a:lstStyle/>
        <a:p>
          <a:r>
            <a:rPr lang="fr-FR" sz="2000" dirty="0"/>
            <a:t>Renforcer le dispositif de suivi-évaluation</a:t>
          </a:r>
        </a:p>
      </dgm:t>
    </dgm:pt>
    <dgm:pt modelId="{850A33C3-AC07-4E6C-ADA3-3345C969EF30}" type="parTrans" cxnId="{1B256AAF-3A33-45DF-ABEF-4F3C7691BA49}">
      <dgm:prSet/>
      <dgm:spPr/>
    </dgm:pt>
    <dgm:pt modelId="{0F9B0A97-BB9D-450B-A4BC-FC2C810E7599}" type="sibTrans" cxnId="{1B256AAF-3A33-45DF-ABEF-4F3C7691BA49}">
      <dgm:prSet/>
      <dgm:spPr/>
    </dgm:pt>
    <dgm:pt modelId="{A68B8D59-B124-44AB-9FCF-AAC3E298DF12}">
      <dgm:prSet phldrT="[Texte]" custT="1"/>
      <dgm:spPr/>
      <dgm:t>
        <a:bodyPr/>
        <a:lstStyle/>
        <a:p>
          <a:r>
            <a:rPr lang="fr-FR" sz="2000" dirty="0"/>
            <a:t>Développer un environnement lettré favorable à l’usage des acquis de l’alphabétisation </a:t>
          </a:r>
        </a:p>
      </dgm:t>
    </dgm:pt>
    <dgm:pt modelId="{D81A395E-37A0-4133-A217-BA7858ADC97C}" type="parTrans" cxnId="{01EF9FEF-B0B2-493C-9ADA-AD9C49B847A9}">
      <dgm:prSet/>
      <dgm:spPr/>
    </dgm:pt>
    <dgm:pt modelId="{6C842979-7329-46B5-A199-9F60105BA430}" type="sibTrans" cxnId="{01EF9FEF-B0B2-493C-9ADA-AD9C49B847A9}">
      <dgm:prSet/>
      <dgm:spPr/>
    </dgm:pt>
    <dgm:pt modelId="{45B6A883-A33F-4127-9AC2-A7A8C9B25145}">
      <dgm:prSet phldrT="[Texte]" custT="1"/>
      <dgm:spPr/>
      <dgm:t>
        <a:bodyPr/>
        <a:lstStyle/>
        <a:p>
          <a:r>
            <a:rPr lang="fr-FR" sz="2400" dirty="0"/>
            <a:t>Accroître les financements</a:t>
          </a:r>
        </a:p>
      </dgm:t>
    </dgm:pt>
    <dgm:pt modelId="{BA917D00-89E5-4E68-8C0F-52C0808799E5}" type="parTrans" cxnId="{D10BB542-3BFC-45AB-8700-C353A809E843}">
      <dgm:prSet/>
      <dgm:spPr/>
    </dgm:pt>
    <dgm:pt modelId="{27367B83-578F-43C6-980E-792D32A2257D}" type="sibTrans" cxnId="{D10BB542-3BFC-45AB-8700-C353A809E843}">
      <dgm:prSet/>
      <dgm:spPr/>
    </dgm:pt>
    <dgm:pt modelId="{1D72D0B4-F3AF-4103-BBCE-FD1B5ECE5B2B}">
      <dgm:prSet phldrT="[Texte]" custT="1"/>
      <dgm:spPr/>
      <dgm:t>
        <a:bodyPr/>
        <a:lstStyle/>
        <a:p>
          <a:r>
            <a:rPr lang="fr-FR" sz="2400" dirty="0"/>
            <a:t>Renforcer le cadre juridique </a:t>
          </a:r>
        </a:p>
      </dgm:t>
    </dgm:pt>
    <dgm:pt modelId="{9C6E57CC-F03C-4370-8E47-A6812C130781}" type="parTrans" cxnId="{B8BB3876-8864-48E7-8B87-AFA4AD35B1B8}">
      <dgm:prSet/>
      <dgm:spPr/>
    </dgm:pt>
    <dgm:pt modelId="{5900315F-EB3E-47FA-B4D5-509CD7B60F4A}" type="sibTrans" cxnId="{B8BB3876-8864-48E7-8B87-AFA4AD35B1B8}">
      <dgm:prSet/>
      <dgm:spPr/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 custScaleY="110707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 custScaleY="123032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F859300-3A83-44AE-A9F5-B850FB56F828}" type="presOf" srcId="{CBBDA69A-991B-45BE-9183-4BDD74E086B6}" destId="{A7003176-9A3A-4A7C-BDDF-BF27CA9EBD30}" srcOrd="0" destOrd="1" presId="urn:microsoft.com/office/officeart/2005/8/layout/vList5"/>
    <dgm:cxn modelId="{36FDB218-86B3-44D3-B6F0-D82065D5D7E5}" type="presOf" srcId="{584C0105-965C-4856-9B5C-2FB9E75BE7F9}" destId="{4DA1386B-5E55-4D13-89B8-144E9226E980}" srcOrd="0" destOrd="3" presId="urn:microsoft.com/office/officeart/2005/8/layout/vList5"/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FFBAA21F-A74D-4B0A-9291-724D3360DBE2}" type="presOf" srcId="{C97F2054-6B5C-4831-BFBC-D4DAD5E39286}" destId="{A7003176-9A3A-4A7C-BDDF-BF27CA9EBD30}" srcOrd="0" destOrd="2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44073920-2768-426C-8E0D-F82953EA6DF0}" type="presOf" srcId="{041B1474-102D-4614-BAA9-D75B95D3B3C6}" destId="{4DA1386B-5E55-4D13-89B8-144E9226E980}" srcOrd="0" destOrd="4" presId="urn:microsoft.com/office/officeart/2005/8/layout/vList5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37A8C33E-41CF-4BD9-B6F0-EB489F1DEAA4}" srcId="{E82F7BBF-F76B-4F37-A699-F2ECE07A9E8B}" destId="{C97F2054-6B5C-4831-BFBC-D4DAD5E39286}" srcOrd="2" destOrd="0" parTransId="{EC5933A8-AF37-4001-B709-9BDA77A89670}" sibTransId="{2C34A5BA-2E80-4B07-9B56-96794F033866}"/>
    <dgm:cxn modelId="{D10BB542-3BFC-45AB-8700-C353A809E843}" srcId="{F1C9E7AA-5CAD-4892-B259-4BA8B283107E}" destId="{45B6A883-A33F-4127-9AC2-A7A8C9B25145}" srcOrd="1" destOrd="0" parTransId="{BA917D00-89E5-4E68-8C0F-52C0808799E5}" sibTransId="{27367B83-578F-43C6-980E-792D32A2257D}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D0B6506C-1A43-4EDC-BC33-211A1E697ADF}" type="presOf" srcId="{A68B8D59-B124-44AB-9FCF-AAC3E298DF12}" destId="{A7003176-9A3A-4A7C-BDDF-BF27CA9EBD30}" srcOrd="0" destOrd="4" presId="urn:microsoft.com/office/officeart/2005/8/layout/vList5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B8BB3876-8864-48E7-8B87-AFA4AD35B1B8}" srcId="{F1C9E7AA-5CAD-4892-B259-4BA8B283107E}" destId="{1D72D0B4-F3AF-4103-BBCE-FD1B5ECE5B2B}" srcOrd="2" destOrd="0" parTransId="{9C6E57CC-F03C-4370-8E47-A6812C130781}" sibTransId="{5900315F-EB3E-47FA-B4D5-509CD7B60F4A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B9D65287-5EE1-4AAC-93E1-DD7E3B9CCF46}" srcId="{E82F7BBF-F76B-4F37-A699-F2ECE07A9E8B}" destId="{CBBDA69A-991B-45BE-9183-4BDD74E086B6}" srcOrd="1" destOrd="0" parTransId="{2A3ED71C-98B3-4780-B942-89650F4536CB}" sibTransId="{8D7D1B03-ACB8-4FF3-BA08-6CD630385F1B}"/>
    <dgm:cxn modelId="{BC363496-AE6F-4429-AFD3-82D342996FBA}" type="presOf" srcId="{9ED7CEA6-EAE8-4958-A420-9CB777950497}" destId="{4DA1386B-5E55-4D13-89B8-144E9226E980}" srcOrd="0" destOrd="1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3979D49B-27F2-46B8-9492-959089772F92}" type="presOf" srcId="{785F7BA8-7703-46B4-AF84-814DE588B5A9}" destId="{4DA1386B-5E55-4D13-89B8-144E9226E980}" srcOrd="0" destOrd="0" presId="urn:microsoft.com/office/officeart/2005/8/layout/vList5"/>
    <dgm:cxn modelId="{C77FC3A1-0B9B-40E7-8399-D03F22CF138F}" srcId="{E9FF58BE-C220-4108-960B-66EC303F0F9B}" destId="{584C0105-965C-4856-9B5C-2FB9E75BE7F9}" srcOrd="3" destOrd="0" parTransId="{9738A882-F7D6-4B66-AF6D-498F70D03705}" sibTransId="{C4D55A61-0F6B-4918-A33D-6F4D080B648E}"/>
    <dgm:cxn modelId="{4E1DF5A5-CA21-46D2-8F85-C0AAD9912224}" srcId="{E9FF58BE-C220-4108-960B-66EC303F0F9B}" destId="{041B1474-102D-4614-BAA9-D75B95D3B3C6}" srcOrd="4" destOrd="0" parTransId="{D84812CB-2AFD-4DB2-869E-73585C5500CB}" sibTransId="{DFB3F741-AAAA-418D-AC08-77219D062C96}"/>
    <dgm:cxn modelId="{1B256AAF-3A33-45DF-ABEF-4F3C7691BA49}" srcId="{E82F7BBF-F76B-4F37-A699-F2ECE07A9E8B}" destId="{8A22BEC8-B0B2-4884-979D-AFC13172301D}" srcOrd="3" destOrd="0" parTransId="{850A33C3-AC07-4E6C-ADA3-3345C969EF30}" sibTransId="{0F9B0A97-BB9D-450B-A4BC-FC2C810E7599}"/>
    <dgm:cxn modelId="{8540C1B2-9CA0-4B89-9517-7CCAF0890D5F}" type="presOf" srcId="{45B6A883-A33F-4127-9AC2-A7A8C9B25145}" destId="{048EB2A2-CC66-470D-87B5-250B8C933CF6}" srcOrd="0" destOrd="1" presId="urn:microsoft.com/office/officeart/2005/8/layout/vList5"/>
    <dgm:cxn modelId="{567261C0-D3A1-46F2-883B-6155B163D7A8}" srcId="{E9FF58BE-C220-4108-960B-66EC303F0F9B}" destId="{785F7BA8-7703-46B4-AF84-814DE588B5A9}" srcOrd="0" destOrd="0" parTransId="{BA41F925-F7B0-43E3-ADC6-C6FD1DCA2984}" sibTransId="{C0FDDE5E-63B9-4E88-B2E4-5BD24DA7A447}"/>
    <dgm:cxn modelId="{2E45D3C0-711D-4EAB-B01A-E1CA3F3F1426}" type="presOf" srcId="{8A22BEC8-B0B2-4884-979D-AFC13172301D}" destId="{A7003176-9A3A-4A7C-BDDF-BF27CA9EBD30}" srcOrd="0" destOrd="3" presId="urn:microsoft.com/office/officeart/2005/8/layout/vList5"/>
    <dgm:cxn modelId="{73C9E8C3-2DAB-4DCB-A984-D83CF7CE86B9}" srcId="{E9FF58BE-C220-4108-960B-66EC303F0F9B}" destId="{F3F5876E-1BBB-416E-BC19-853754C6AA89}" srcOrd="2" destOrd="0" parTransId="{EAE8A00A-76CA-4EDF-94BC-A4BD28E055F7}" sibTransId="{2064DD7A-5AD6-44A5-8C7A-FF01D78BA378}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59ED17CF-45CD-4059-98FB-C713C4B4C9D2}" srcId="{E9FF58BE-C220-4108-960B-66EC303F0F9B}" destId="{9ED7CEA6-EAE8-4958-A420-9CB777950497}" srcOrd="1" destOrd="0" parTransId="{47218451-F41B-484A-964B-1D41A5DAF42E}" sibTransId="{483645E8-F857-45B8-8FE9-3894BED7D530}"/>
    <dgm:cxn modelId="{D6548AD1-E907-4AE4-BBA3-F36EA96E029C}" type="presOf" srcId="{1D72D0B4-F3AF-4103-BBCE-FD1B5ECE5B2B}" destId="{048EB2A2-CC66-470D-87B5-250B8C933CF6}" srcOrd="0" destOrd="2" presId="urn:microsoft.com/office/officeart/2005/8/layout/vList5"/>
    <dgm:cxn modelId="{B7B6F8EE-3F4E-4DA9-BE30-50E36BADC04D}" type="presOf" srcId="{F3F5876E-1BBB-416E-BC19-853754C6AA89}" destId="{4DA1386B-5E55-4D13-89B8-144E9226E980}" srcOrd="0" destOrd="2" presId="urn:microsoft.com/office/officeart/2005/8/layout/vList5"/>
    <dgm:cxn modelId="{01EF9FEF-B0B2-493C-9ADA-AD9C49B847A9}" srcId="{E82F7BBF-F76B-4F37-A699-F2ECE07A9E8B}" destId="{A68B8D59-B124-44AB-9FCF-AAC3E298DF12}" srcOrd="4" destOrd="0" parTransId="{D81A395E-37A0-4133-A217-BA7858ADC97C}" sibTransId="{6C842979-7329-46B5-A199-9F60105BA430}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A115F5-7B9C-4746-85E6-7694564F8682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E9FF58BE-C220-4108-960B-66EC303F0F9B}">
      <dgm:prSet phldrT="[Texte]"/>
      <dgm:spPr/>
      <dgm:t>
        <a:bodyPr/>
        <a:lstStyle/>
        <a:p>
          <a:r>
            <a:rPr lang="fr-FR" dirty="0"/>
            <a:t>Améliorer l’accès équitable à l’enseignement supérieur</a:t>
          </a:r>
        </a:p>
      </dgm:t>
    </dgm:pt>
    <dgm:pt modelId="{4E550FBA-826E-4860-AE45-7905161C80D3}" type="parTrans" cxnId="{0470AF27-2BD0-4DC7-AC93-9A78D70B3D7A}">
      <dgm:prSet/>
      <dgm:spPr/>
      <dgm:t>
        <a:bodyPr/>
        <a:lstStyle/>
        <a:p>
          <a:endParaRPr lang="fr-FR"/>
        </a:p>
      </dgm:t>
    </dgm:pt>
    <dgm:pt modelId="{3715D872-D252-426A-B87C-BE3E1B3C67A1}" type="sibTrans" cxnId="{0470AF27-2BD0-4DC7-AC93-9A78D70B3D7A}">
      <dgm:prSet/>
      <dgm:spPr/>
      <dgm:t>
        <a:bodyPr/>
        <a:lstStyle/>
        <a:p>
          <a:endParaRPr lang="fr-FR"/>
        </a:p>
      </dgm:t>
    </dgm:pt>
    <dgm:pt modelId="{E82F7BBF-F76B-4F37-A699-F2ECE07A9E8B}">
      <dgm:prSet phldrT="[Texte]"/>
      <dgm:spPr/>
      <dgm:t>
        <a:bodyPr/>
        <a:lstStyle/>
        <a:p>
          <a:r>
            <a:rPr lang="fr-FR" dirty="0"/>
            <a:t>Améliorer la qualité dans le système d’enseignement supérieur</a:t>
          </a:r>
        </a:p>
      </dgm:t>
    </dgm:pt>
    <dgm:pt modelId="{2C980D6A-DD73-4F2D-95E6-2C1197B4CDB8}" type="parTrans" cxnId="{07725E4C-475C-4A5F-8DA7-E3B2834C6FDA}">
      <dgm:prSet/>
      <dgm:spPr/>
      <dgm:t>
        <a:bodyPr/>
        <a:lstStyle/>
        <a:p>
          <a:endParaRPr lang="fr-FR"/>
        </a:p>
      </dgm:t>
    </dgm:pt>
    <dgm:pt modelId="{DEFEC364-C32B-4487-9E85-BF97592C8DE2}" type="sibTrans" cxnId="{07725E4C-475C-4A5F-8DA7-E3B2834C6FDA}">
      <dgm:prSet/>
      <dgm:spPr/>
      <dgm:t>
        <a:bodyPr/>
        <a:lstStyle/>
        <a:p>
          <a:endParaRPr lang="fr-FR"/>
        </a:p>
      </dgm:t>
    </dgm:pt>
    <dgm:pt modelId="{673FB557-2C4B-4EE9-8C52-920E7AD9FB6D}">
      <dgm:prSet phldrT="[Texte]" custT="1"/>
      <dgm:spPr/>
      <dgm:t>
        <a:bodyPr/>
        <a:lstStyle/>
        <a:p>
          <a:r>
            <a:rPr lang="fr-FR" sz="2000" dirty="0"/>
            <a:t>Renforcer l’encadrement pédagogique des étudiants</a:t>
          </a:r>
        </a:p>
      </dgm:t>
    </dgm:pt>
    <dgm:pt modelId="{5DDFEBC5-C8E4-42A5-BD7B-994715562330}" type="parTrans" cxnId="{033EC068-BDD5-4590-8500-0102C45D03CE}">
      <dgm:prSet/>
      <dgm:spPr/>
      <dgm:t>
        <a:bodyPr/>
        <a:lstStyle/>
        <a:p>
          <a:endParaRPr lang="fr-FR"/>
        </a:p>
      </dgm:t>
    </dgm:pt>
    <dgm:pt modelId="{D2E8C077-3432-4107-91B6-28D67F7BEBCC}" type="sibTrans" cxnId="{033EC068-BDD5-4590-8500-0102C45D03CE}">
      <dgm:prSet/>
      <dgm:spPr/>
      <dgm:t>
        <a:bodyPr/>
        <a:lstStyle/>
        <a:p>
          <a:endParaRPr lang="fr-FR"/>
        </a:p>
      </dgm:t>
    </dgm:pt>
    <dgm:pt modelId="{F1C9E7AA-5CAD-4892-B259-4BA8B283107E}">
      <dgm:prSet phldrT="[Texte]"/>
      <dgm:spPr/>
      <dgm:t>
        <a:bodyPr/>
        <a:lstStyle/>
        <a:p>
          <a:r>
            <a:rPr lang="fr-FR" dirty="0"/>
            <a:t>Améliorer la gestion et le pilotage</a:t>
          </a:r>
        </a:p>
      </dgm:t>
    </dgm:pt>
    <dgm:pt modelId="{29FB139E-FFD1-4BD7-8376-33163597805D}" type="parTrans" cxnId="{26983220-CBC2-4100-A2DA-CA6A74E62590}">
      <dgm:prSet/>
      <dgm:spPr/>
      <dgm:t>
        <a:bodyPr/>
        <a:lstStyle/>
        <a:p>
          <a:endParaRPr lang="fr-FR"/>
        </a:p>
      </dgm:t>
    </dgm:pt>
    <dgm:pt modelId="{C1C2DE42-E982-42AD-A14F-6C7FE0E68813}" type="sibTrans" cxnId="{26983220-CBC2-4100-A2DA-CA6A74E62590}">
      <dgm:prSet/>
      <dgm:spPr/>
      <dgm:t>
        <a:bodyPr/>
        <a:lstStyle/>
        <a:p>
          <a:endParaRPr lang="fr-FR"/>
        </a:p>
      </dgm:t>
    </dgm:pt>
    <dgm:pt modelId="{303759F8-4C48-4099-8C89-29D5A1420578}">
      <dgm:prSet phldrT="[Texte]" custT="1"/>
      <dgm:spPr/>
      <dgm:t>
        <a:bodyPr/>
        <a:lstStyle/>
        <a:p>
          <a:r>
            <a:rPr lang="fr-FR" sz="2400" dirty="0"/>
            <a:t>Mettre en œuvre la loi d’orientation</a:t>
          </a:r>
        </a:p>
      </dgm:t>
    </dgm:pt>
    <dgm:pt modelId="{8DDC2BB3-8166-4FC5-A397-F09B5BCC66D7}" type="parTrans" cxnId="{2F3FA255-17AD-42E7-A6A7-630D7B9FFAE0}">
      <dgm:prSet/>
      <dgm:spPr/>
      <dgm:t>
        <a:bodyPr/>
        <a:lstStyle/>
        <a:p>
          <a:endParaRPr lang="fr-FR"/>
        </a:p>
      </dgm:t>
    </dgm:pt>
    <dgm:pt modelId="{05467F3C-E8BC-46BE-A27F-8E0904A11FCD}" type="sibTrans" cxnId="{2F3FA255-17AD-42E7-A6A7-630D7B9FFAE0}">
      <dgm:prSet/>
      <dgm:spPr/>
      <dgm:t>
        <a:bodyPr/>
        <a:lstStyle/>
        <a:p>
          <a:endParaRPr lang="fr-FR"/>
        </a:p>
      </dgm:t>
    </dgm:pt>
    <dgm:pt modelId="{041B1474-102D-4614-BAA9-D75B95D3B3C6}">
      <dgm:prSet phldrT="[Texte]"/>
      <dgm:spPr/>
      <dgm:t>
        <a:bodyPr/>
        <a:lstStyle/>
        <a:p>
          <a:endParaRPr lang="fr-FR" sz="1700" dirty="0"/>
        </a:p>
      </dgm:t>
    </dgm:pt>
    <dgm:pt modelId="{D84812CB-2AFD-4DB2-869E-73585C5500CB}" type="parTrans" cxnId="{4E1DF5A5-CA21-46D2-8F85-C0AAD9912224}">
      <dgm:prSet/>
      <dgm:spPr/>
      <dgm:t>
        <a:bodyPr/>
        <a:lstStyle/>
        <a:p>
          <a:endParaRPr lang="fr-FR"/>
        </a:p>
      </dgm:t>
    </dgm:pt>
    <dgm:pt modelId="{DFB3F741-AAAA-418D-AC08-77219D062C96}" type="sibTrans" cxnId="{4E1DF5A5-CA21-46D2-8F85-C0AAD9912224}">
      <dgm:prSet/>
      <dgm:spPr/>
      <dgm:t>
        <a:bodyPr/>
        <a:lstStyle/>
        <a:p>
          <a:endParaRPr lang="fr-FR"/>
        </a:p>
      </dgm:t>
    </dgm:pt>
    <dgm:pt modelId="{785F7BA8-7703-46B4-AF84-814DE588B5A9}">
      <dgm:prSet phldrT="[Texte]" custT="1"/>
      <dgm:spPr/>
      <dgm:t>
        <a:bodyPr/>
        <a:lstStyle/>
        <a:p>
          <a:r>
            <a:rPr lang="fr-FR" sz="2000" dirty="0"/>
            <a:t>Rationaliser les offres de formation publiques et privées en fonction des besoins du marché</a:t>
          </a:r>
        </a:p>
      </dgm:t>
    </dgm:pt>
    <dgm:pt modelId="{BA41F925-F7B0-43E3-ADC6-C6FD1DCA2984}" type="parTrans" cxnId="{567261C0-D3A1-46F2-883B-6155B163D7A8}">
      <dgm:prSet/>
      <dgm:spPr/>
      <dgm:t>
        <a:bodyPr/>
        <a:lstStyle/>
        <a:p>
          <a:endParaRPr lang="fr-FR"/>
        </a:p>
      </dgm:t>
    </dgm:pt>
    <dgm:pt modelId="{C0FDDE5E-63B9-4E88-B2E4-5BD24DA7A447}" type="sibTrans" cxnId="{567261C0-D3A1-46F2-883B-6155B163D7A8}">
      <dgm:prSet/>
      <dgm:spPr/>
      <dgm:t>
        <a:bodyPr/>
        <a:lstStyle/>
        <a:p>
          <a:endParaRPr lang="fr-FR"/>
        </a:p>
      </dgm:t>
    </dgm:pt>
    <dgm:pt modelId="{1E5E5E41-F8EE-4C3D-8EE8-9769D472DCF9}">
      <dgm:prSet/>
      <dgm:spPr/>
      <dgm:t>
        <a:bodyPr/>
        <a:lstStyle/>
        <a:p>
          <a:r>
            <a:rPr lang="fr-FR" dirty="0"/>
            <a:t>Renforcer la recherche</a:t>
          </a:r>
        </a:p>
      </dgm:t>
    </dgm:pt>
    <dgm:pt modelId="{F9C77D69-B3FB-4ED7-BD9E-A5CB61E6AA8F}" type="parTrans" cxnId="{6550FCA6-3407-4F49-B33A-6705DEC02146}">
      <dgm:prSet/>
      <dgm:spPr/>
      <dgm:t>
        <a:bodyPr/>
        <a:lstStyle/>
        <a:p>
          <a:endParaRPr lang="fr-FR"/>
        </a:p>
      </dgm:t>
    </dgm:pt>
    <dgm:pt modelId="{9F7D5A54-BFD1-4B1F-B55A-EE18F387924A}" type="sibTrans" cxnId="{6550FCA6-3407-4F49-B33A-6705DEC02146}">
      <dgm:prSet/>
      <dgm:spPr/>
      <dgm:t>
        <a:bodyPr/>
        <a:lstStyle/>
        <a:p>
          <a:endParaRPr lang="fr-FR"/>
        </a:p>
      </dgm:t>
    </dgm:pt>
    <dgm:pt modelId="{45758319-CC3E-4CA2-A899-4247402654F3}">
      <dgm:prSet phldrT="[Texte]" custT="1"/>
      <dgm:spPr/>
      <dgm:t>
        <a:bodyPr/>
        <a:lstStyle/>
        <a:p>
          <a:r>
            <a:rPr lang="fr-FR" sz="2000" dirty="0"/>
            <a:t>Mettre en place un système de régulation des flux</a:t>
          </a:r>
        </a:p>
      </dgm:t>
    </dgm:pt>
    <dgm:pt modelId="{CF70867A-5AE3-4816-BC43-66883DCFD3AB}" type="parTrans" cxnId="{11BD030F-800B-4CFE-95AC-A3054C36D362}">
      <dgm:prSet/>
      <dgm:spPr/>
      <dgm:t>
        <a:bodyPr/>
        <a:lstStyle/>
        <a:p>
          <a:endParaRPr lang="fr-FR"/>
        </a:p>
      </dgm:t>
    </dgm:pt>
    <dgm:pt modelId="{251A4A8B-0933-462F-9D1F-8BB3A26C2820}" type="sibTrans" cxnId="{11BD030F-800B-4CFE-95AC-A3054C36D362}">
      <dgm:prSet/>
      <dgm:spPr/>
      <dgm:t>
        <a:bodyPr/>
        <a:lstStyle/>
        <a:p>
          <a:endParaRPr lang="fr-FR"/>
        </a:p>
      </dgm:t>
    </dgm:pt>
    <dgm:pt modelId="{808DB5F9-8A6B-4E07-AAE9-0D712F88381D}">
      <dgm:prSet phldrT="[Texte]" custT="1"/>
      <dgm:spPr/>
      <dgm:t>
        <a:bodyPr/>
        <a:lstStyle/>
        <a:p>
          <a:r>
            <a:rPr lang="fr-FR" sz="2000" dirty="0"/>
            <a:t>Développer l’enseignement à distance</a:t>
          </a:r>
        </a:p>
      </dgm:t>
    </dgm:pt>
    <dgm:pt modelId="{0F9F0B76-762A-4F9F-84BC-80B11900AE42}" type="parTrans" cxnId="{B4E2957A-82F0-41CF-A23E-C2D6A0BECF18}">
      <dgm:prSet/>
      <dgm:spPr/>
      <dgm:t>
        <a:bodyPr/>
        <a:lstStyle/>
        <a:p>
          <a:endParaRPr lang="fr-FR"/>
        </a:p>
      </dgm:t>
    </dgm:pt>
    <dgm:pt modelId="{DD2AEC1C-1B6D-4C24-B6CC-775552598795}" type="sibTrans" cxnId="{B4E2957A-82F0-41CF-A23E-C2D6A0BECF18}">
      <dgm:prSet/>
      <dgm:spPr/>
      <dgm:t>
        <a:bodyPr/>
        <a:lstStyle/>
        <a:p>
          <a:endParaRPr lang="fr-FR"/>
        </a:p>
      </dgm:t>
    </dgm:pt>
    <dgm:pt modelId="{4B3C4351-7CF8-4793-B0C7-4E82967BF2C5}">
      <dgm:prSet phldrT="[Texte]" custT="1"/>
      <dgm:spPr/>
      <dgm:t>
        <a:bodyPr/>
        <a:lstStyle/>
        <a:p>
          <a:endParaRPr lang="fr-FR" sz="1800" dirty="0"/>
        </a:p>
      </dgm:t>
    </dgm:pt>
    <dgm:pt modelId="{30542337-0B43-439E-93F6-81A9E22C9FFA}" type="parTrans" cxnId="{DEC78471-2CA4-4F63-95DE-3D5E67B8D0DD}">
      <dgm:prSet/>
      <dgm:spPr/>
      <dgm:t>
        <a:bodyPr/>
        <a:lstStyle/>
        <a:p>
          <a:endParaRPr lang="fr-FR"/>
        </a:p>
      </dgm:t>
    </dgm:pt>
    <dgm:pt modelId="{9B6F6ACE-B89B-4B71-80D9-8D01D0617982}" type="sibTrans" cxnId="{DEC78471-2CA4-4F63-95DE-3D5E67B8D0DD}">
      <dgm:prSet/>
      <dgm:spPr/>
      <dgm:t>
        <a:bodyPr/>
        <a:lstStyle/>
        <a:p>
          <a:endParaRPr lang="fr-FR"/>
        </a:p>
      </dgm:t>
    </dgm:pt>
    <dgm:pt modelId="{EC0985F6-8490-404E-8437-D7BEE8BCB72A}">
      <dgm:prSet phldrT="[Texte]" custT="1"/>
      <dgm:spPr/>
      <dgm:t>
        <a:bodyPr/>
        <a:lstStyle/>
        <a:p>
          <a:r>
            <a:rPr lang="fr-FR" sz="2000" dirty="0"/>
            <a:t>Améliorer les ressources pédagogiques</a:t>
          </a:r>
        </a:p>
      </dgm:t>
    </dgm:pt>
    <dgm:pt modelId="{1A1BBFB5-8A23-499C-9246-AB6EB851340F}" type="parTrans" cxnId="{CB3207C0-9C65-45BC-A9F2-A8A883F52DD5}">
      <dgm:prSet/>
      <dgm:spPr/>
      <dgm:t>
        <a:bodyPr/>
        <a:lstStyle/>
        <a:p>
          <a:endParaRPr lang="fr-FR"/>
        </a:p>
      </dgm:t>
    </dgm:pt>
    <dgm:pt modelId="{ECE942B7-320B-4C57-9B06-466C48CFA8F3}" type="sibTrans" cxnId="{CB3207C0-9C65-45BC-A9F2-A8A883F52DD5}">
      <dgm:prSet/>
      <dgm:spPr/>
      <dgm:t>
        <a:bodyPr/>
        <a:lstStyle/>
        <a:p>
          <a:endParaRPr lang="fr-FR"/>
        </a:p>
      </dgm:t>
    </dgm:pt>
    <dgm:pt modelId="{52179E1F-D1C9-4535-A6CD-7252D95B1BDA}">
      <dgm:prSet phldrT="[Texte]" custT="1"/>
      <dgm:spPr/>
      <dgm:t>
        <a:bodyPr/>
        <a:lstStyle/>
        <a:p>
          <a:r>
            <a:rPr lang="fr-FR" sz="2000" dirty="0"/>
            <a:t>Promouvoir la démarche qualité dans les établissements d’ES</a:t>
          </a:r>
        </a:p>
      </dgm:t>
    </dgm:pt>
    <dgm:pt modelId="{E2791300-8351-46AC-BDE5-837A64A5B1B4}" type="parTrans" cxnId="{1155CE54-7BFB-43D3-991B-16CE0A25F436}">
      <dgm:prSet/>
      <dgm:spPr/>
      <dgm:t>
        <a:bodyPr/>
        <a:lstStyle/>
        <a:p>
          <a:endParaRPr lang="fr-FR"/>
        </a:p>
      </dgm:t>
    </dgm:pt>
    <dgm:pt modelId="{605027E5-00D3-4CCE-AE00-D65653B2A83C}" type="sibTrans" cxnId="{1155CE54-7BFB-43D3-991B-16CE0A25F436}">
      <dgm:prSet/>
      <dgm:spPr/>
      <dgm:t>
        <a:bodyPr/>
        <a:lstStyle/>
        <a:p>
          <a:endParaRPr lang="fr-FR"/>
        </a:p>
      </dgm:t>
    </dgm:pt>
    <dgm:pt modelId="{56701845-293B-45AD-A8ED-D977D048FC19}">
      <dgm:prSet phldrT="[Texte]" custT="1"/>
      <dgm:spPr/>
      <dgm:t>
        <a:bodyPr/>
        <a:lstStyle/>
        <a:p>
          <a:r>
            <a:rPr lang="fr-FR" sz="2400" dirty="0"/>
            <a:t>Diversifier les sources de financement</a:t>
          </a:r>
        </a:p>
      </dgm:t>
    </dgm:pt>
    <dgm:pt modelId="{AEEA10FE-EA63-4DAA-BECC-8E64E1A27554}" type="parTrans" cxnId="{E369B7EC-DD65-49BE-A509-67E625A7762D}">
      <dgm:prSet/>
      <dgm:spPr/>
      <dgm:t>
        <a:bodyPr/>
        <a:lstStyle/>
        <a:p>
          <a:endParaRPr lang="fr-FR"/>
        </a:p>
      </dgm:t>
    </dgm:pt>
    <dgm:pt modelId="{D9E66D12-8CEC-4E45-87F8-CD2941908521}" type="sibTrans" cxnId="{E369B7EC-DD65-49BE-A509-67E625A7762D}">
      <dgm:prSet/>
      <dgm:spPr/>
      <dgm:t>
        <a:bodyPr/>
        <a:lstStyle/>
        <a:p>
          <a:endParaRPr lang="fr-FR"/>
        </a:p>
      </dgm:t>
    </dgm:pt>
    <dgm:pt modelId="{9239EAB3-754F-47D9-BCF0-1D4C9A54F8E6}">
      <dgm:prSet phldrT="[Texte]" custT="1"/>
      <dgm:spPr/>
      <dgm:t>
        <a:bodyPr/>
        <a:lstStyle/>
        <a:p>
          <a:r>
            <a:rPr lang="fr-FR" sz="2400" dirty="0"/>
            <a:t>Renforcer le système d’information de l’ES</a:t>
          </a:r>
        </a:p>
      </dgm:t>
    </dgm:pt>
    <dgm:pt modelId="{6251A035-4AC4-4F1A-B420-2869052ED877}" type="parTrans" cxnId="{D333CCAE-D6B4-48E3-BCC0-AC1E6AEB7246}">
      <dgm:prSet/>
      <dgm:spPr/>
      <dgm:t>
        <a:bodyPr/>
        <a:lstStyle/>
        <a:p>
          <a:endParaRPr lang="fr-FR"/>
        </a:p>
      </dgm:t>
    </dgm:pt>
    <dgm:pt modelId="{000944A1-867E-40C4-B44D-4F20FBA1BE1E}" type="sibTrans" cxnId="{D333CCAE-D6B4-48E3-BCC0-AC1E6AEB7246}">
      <dgm:prSet/>
      <dgm:spPr/>
      <dgm:t>
        <a:bodyPr/>
        <a:lstStyle/>
        <a:p>
          <a:endParaRPr lang="fr-FR"/>
        </a:p>
      </dgm:t>
    </dgm:pt>
    <dgm:pt modelId="{4FCE111D-DA17-4C6F-90C0-3C99A3BA8971}" type="pres">
      <dgm:prSet presAssocID="{FBA115F5-7B9C-4746-85E6-7694564F8682}" presName="Name0" presStyleCnt="0">
        <dgm:presLayoutVars>
          <dgm:dir/>
          <dgm:animLvl val="lvl"/>
          <dgm:resizeHandles val="exact"/>
        </dgm:presLayoutVars>
      </dgm:prSet>
      <dgm:spPr/>
    </dgm:pt>
    <dgm:pt modelId="{E6C67575-9666-4CAB-8534-B34A53125CA4}" type="pres">
      <dgm:prSet presAssocID="{E9FF58BE-C220-4108-960B-66EC303F0F9B}" presName="linNode" presStyleCnt="0"/>
      <dgm:spPr/>
    </dgm:pt>
    <dgm:pt modelId="{AB809D25-9872-4C7B-BE76-3DB46A2FEDCA}" type="pres">
      <dgm:prSet presAssocID="{E9FF58BE-C220-4108-960B-66EC303F0F9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DA1386B-5E55-4D13-89B8-144E9226E980}" type="pres">
      <dgm:prSet presAssocID="{E9FF58BE-C220-4108-960B-66EC303F0F9B}" presName="descendantText" presStyleLbl="alignAccFollowNode1" presStyleIdx="0" presStyleCnt="3" custScaleX="99109" custScaleY="103325" custLinFactNeighborX="-108" custLinFactNeighborY="4764">
        <dgm:presLayoutVars>
          <dgm:bulletEnabled val="1"/>
        </dgm:presLayoutVars>
      </dgm:prSet>
      <dgm:spPr/>
    </dgm:pt>
    <dgm:pt modelId="{E74C90F0-B895-4DF6-880D-8355383346F4}" type="pres">
      <dgm:prSet presAssocID="{3715D872-D252-426A-B87C-BE3E1B3C67A1}" presName="sp" presStyleCnt="0"/>
      <dgm:spPr/>
    </dgm:pt>
    <dgm:pt modelId="{B7740300-4184-4D6E-8A08-603CD6AC999A}" type="pres">
      <dgm:prSet presAssocID="{E82F7BBF-F76B-4F37-A699-F2ECE07A9E8B}" presName="linNode" presStyleCnt="0"/>
      <dgm:spPr/>
    </dgm:pt>
    <dgm:pt modelId="{CBF21375-4AB8-4376-BA80-DB785DFE78EB}" type="pres">
      <dgm:prSet presAssocID="{E82F7BBF-F76B-4F37-A699-F2ECE07A9E8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03176-9A3A-4A7C-BDDF-BF27CA9EBD30}" type="pres">
      <dgm:prSet presAssocID="{E82F7BBF-F76B-4F37-A699-F2ECE07A9E8B}" presName="descendantText" presStyleLbl="alignAccFollowNode1" presStyleIdx="1" presStyleCnt="3" custScaleY="123032">
        <dgm:presLayoutVars>
          <dgm:bulletEnabled val="1"/>
        </dgm:presLayoutVars>
      </dgm:prSet>
      <dgm:spPr/>
    </dgm:pt>
    <dgm:pt modelId="{37DC72D1-6933-4674-A2C1-F63E45131821}" type="pres">
      <dgm:prSet presAssocID="{DEFEC364-C32B-4487-9E85-BF97592C8DE2}" presName="sp" presStyleCnt="0"/>
      <dgm:spPr/>
    </dgm:pt>
    <dgm:pt modelId="{6649CFFA-802A-467A-94E6-29260F038C01}" type="pres">
      <dgm:prSet presAssocID="{F1C9E7AA-5CAD-4892-B259-4BA8B283107E}" presName="linNode" presStyleCnt="0"/>
      <dgm:spPr/>
    </dgm:pt>
    <dgm:pt modelId="{2DE7A34C-9F6C-4A3D-BB24-EFFD98153BE6}" type="pres">
      <dgm:prSet presAssocID="{F1C9E7AA-5CAD-4892-B259-4BA8B283107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48EB2A2-CC66-470D-87B5-250B8C933CF6}" type="pres">
      <dgm:prSet presAssocID="{F1C9E7AA-5CAD-4892-B259-4BA8B283107E}" presName="descendantText" presStyleLbl="alignAccFollowNode1" presStyleIdx="2" presStyleCnt="3" custLinFactNeighborX="2100" custLinFactNeighborY="-1333">
        <dgm:presLayoutVars>
          <dgm:bulletEnabled val="1"/>
        </dgm:presLayoutVars>
      </dgm:prSet>
      <dgm:spPr/>
    </dgm:pt>
    <dgm:pt modelId="{BF702F42-CFF8-4697-8E90-4EFF4A797EC8}" type="pres">
      <dgm:prSet presAssocID="{C1C2DE42-E982-42AD-A14F-6C7FE0E68813}" presName="sp" presStyleCnt="0"/>
      <dgm:spPr/>
    </dgm:pt>
    <dgm:pt modelId="{3FD617A5-4DDC-40B1-BF78-14E6945A390D}" type="pres">
      <dgm:prSet presAssocID="{1E5E5E41-F8EE-4C3D-8EE8-9769D472DCF9}" presName="linNode" presStyleCnt="0"/>
      <dgm:spPr/>
    </dgm:pt>
    <dgm:pt modelId="{EC68A62C-2A8F-4C87-A160-F348767377B3}" type="pres">
      <dgm:prSet presAssocID="{1E5E5E41-F8EE-4C3D-8EE8-9769D472DCF9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1BD030F-800B-4CFE-95AC-A3054C36D362}" srcId="{E9FF58BE-C220-4108-960B-66EC303F0F9B}" destId="{45758319-CC3E-4CA2-A899-4247402654F3}" srcOrd="2" destOrd="0" parTransId="{CF70867A-5AE3-4816-BC43-66883DCFD3AB}" sibTransId="{251A4A8B-0933-462F-9D1F-8BB3A26C2820}"/>
    <dgm:cxn modelId="{B288811B-576C-4C9F-AD42-CFE0B60B52F1}" type="presOf" srcId="{673FB557-2C4B-4EE9-8C52-920E7AD9FB6D}" destId="{A7003176-9A3A-4A7C-BDDF-BF27CA9EBD30}" srcOrd="0" destOrd="0" presId="urn:microsoft.com/office/officeart/2005/8/layout/vList5"/>
    <dgm:cxn modelId="{26983220-CBC2-4100-A2DA-CA6A74E62590}" srcId="{FBA115F5-7B9C-4746-85E6-7694564F8682}" destId="{F1C9E7AA-5CAD-4892-B259-4BA8B283107E}" srcOrd="2" destOrd="0" parTransId="{29FB139E-FFD1-4BD7-8376-33163597805D}" sibTransId="{C1C2DE42-E982-42AD-A14F-6C7FE0E68813}"/>
    <dgm:cxn modelId="{44073920-2768-426C-8E0D-F82953EA6DF0}" type="presOf" srcId="{041B1474-102D-4614-BAA9-D75B95D3B3C6}" destId="{4DA1386B-5E55-4D13-89B8-144E9226E980}" srcOrd="0" destOrd="4" presId="urn:microsoft.com/office/officeart/2005/8/layout/vList5"/>
    <dgm:cxn modelId="{0470AF27-2BD0-4DC7-AC93-9A78D70B3D7A}" srcId="{FBA115F5-7B9C-4746-85E6-7694564F8682}" destId="{E9FF58BE-C220-4108-960B-66EC303F0F9B}" srcOrd="0" destOrd="0" parTransId="{4E550FBA-826E-4860-AE45-7905161C80D3}" sibTransId="{3715D872-D252-426A-B87C-BE3E1B3C67A1}"/>
    <dgm:cxn modelId="{CC9BC329-02C0-49D2-A02C-75120E9D2B69}" type="presOf" srcId="{E9FF58BE-C220-4108-960B-66EC303F0F9B}" destId="{AB809D25-9872-4C7B-BE76-3DB46A2FEDCA}" srcOrd="0" destOrd="0" presId="urn:microsoft.com/office/officeart/2005/8/layout/vList5"/>
    <dgm:cxn modelId="{7D2D1730-31C4-4D8B-B384-B775C8C8382B}" type="presOf" srcId="{9239EAB3-754F-47D9-BCF0-1D4C9A54F8E6}" destId="{048EB2A2-CC66-470D-87B5-250B8C933CF6}" srcOrd="0" destOrd="2" presId="urn:microsoft.com/office/officeart/2005/8/layout/vList5"/>
    <dgm:cxn modelId="{A405163A-2891-46D6-825B-8B526B73C718}" type="presOf" srcId="{56701845-293B-45AD-A8ED-D977D048FC19}" destId="{048EB2A2-CC66-470D-87B5-250B8C933CF6}" srcOrd="0" destOrd="1" presId="urn:microsoft.com/office/officeart/2005/8/layout/vList5"/>
    <dgm:cxn modelId="{033EC068-BDD5-4590-8500-0102C45D03CE}" srcId="{E82F7BBF-F76B-4F37-A699-F2ECE07A9E8B}" destId="{673FB557-2C4B-4EE9-8C52-920E7AD9FB6D}" srcOrd="0" destOrd="0" parTransId="{5DDFEBC5-C8E4-42A5-BD7B-994715562330}" sibTransId="{D2E8C077-3432-4107-91B6-28D67F7BEBCC}"/>
    <dgm:cxn modelId="{07725E4C-475C-4A5F-8DA7-E3B2834C6FDA}" srcId="{FBA115F5-7B9C-4746-85E6-7694564F8682}" destId="{E82F7BBF-F76B-4F37-A699-F2ECE07A9E8B}" srcOrd="1" destOrd="0" parTransId="{2C980D6A-DD73-4F2D-95E6-2C1197B4CDB8}" sibTransId="{DEFEC364-C32B-4487-9E85-BF97592C8DE2}"/>
    <dgm:cxn modelId="{DEC78471-2CA4-4F63-95DE-3D5E67B8D0DD}" srcId="{E9FF58BE-C220-4108-960B-66EC303F0F9B}" destId="{4B3C4351-7CF8-4793-B0C7-4E82967BF2C5}" srcOrd="0" destOrd="0" parTransId="{30542337-0B43-439E-93F6-81A9E22C9FFA}" sibTransId="{9B6F6ACE-B89B-4B71-80D9-8D01D0617982}"/>
    <dgm:cxn modelId="{59ACA453-5E0A-42BB-9DBA-4F4168A7A7BB}" type="presOf" srcId="{4B3C4351-7CF8-4793-B0C7-4E82967BF2C5}" destId="{4DA1386B-5E55-4D13-89B8-144E9226E980}" srcOrd="0" destOrd="0" presId="urn:microsoft.com/office/officeart/2005/8/layout/vList5"/>
    <dgm:cxn modelId="{1155CE54-7BFB-43D3-991B-16CE0A25F436}" srcId="{E82F7BBF-F76B-4F37-A699-F2ECE07A9E8B}" destId="{52179E1F-D1C9-4535-A6CD-7252D95B1BDA}" srcOrd="2" destOrd="0" parTransId="{E2791300-8351-46AC-BDE5-837A64A5B1B4}" sibTransId="{605027E5-00D3-4CCE-AE00-D65653B2A83C}"/>
    <dgm:cxn modelId="{A0F38975-8170-4CE9-B3A3-EFA19785A808}" type="presOf" srcId="{E82F7BBF-F76B-4F37-A699-F2ECE07A9E8B}" destId="{CBF21375-4AB8-4376-BA80-DB785DFE78EB}" srcOrd="0" destOrd="0" presId="urn:microsoft.com/office/officeart/2005/8/layout/vList5"/>
    <dgm:cxn modelId="{2F3FA255-17AD-42E7-A6A7-630D7B9FFAE0}" srcId="{F1C9E7AA-5CAD-4892-B259-4BA8B283107E}" destId="{303759F8-4C48-4099-8C89-29D5A1420578}" srcOrd="0" destOrd="0" parTransId="{8DDC2BB3-8166-4FC5-A397-F09B5BCC66D7}" sibTransId="{05467F3C-E8BC-46BE-A27F-8E0904A11FCD}"/>
    <dgm:cxn modelId="{C6115857-302A-4F95-A091-B3ACA5A6933A}" type="presOf" srcId="{FBA115F5-7B9C-4746-85E6-7694564F8682}" destId="{4FCE111D-DA17-4C6F-90C0-3C99A3BA8971}" srcOrd="0" destOrd="0" presId="urn:microsoft.com/office/officeart/2005/8/layout/vList5"/>
    <dgm:cxn modelId="{B4E2957A-82F0-41CF-A23E-C2D6A0BECF18}" srcId="{E9FF58BE-C220-4108-960B-66EC303F0F9B}" destId="{808DB5F9-8A6B-4E07-AAE9-0D712F88381D}" srcOrd="3" destOrd="0" parTransId="{0F9F0B76-762A-4F9F-84BC-80B11900AE42}" sibTransId="{DD2AEC1C-1B6D-4C24-B6CC-775552598795}"/>
    <dgm:cxn modelId="{5C43138A-91DD-416E-8938-0F2FB230DFED}" type="presOf" srcId="{45758319-CC3E-4CA2-A899-4247402654F3}" destId="{4DA1386B-5E55-4D13-89B8-144E9226E980}" srcOrd="0" destOrd="2" presId="urn:microsoft.com/office/officeart/2005/8/layout/vList5"/>
    <dgm:cxn modelId="{E7137296-B77E-4957-99D2-2BD56332C8C8}" type="presOf" srcId="{F1C9E7AA-5CAD-4892-B259-4BA8B283107E}" destId="{2DE7A34C-9F6C-4A3D-BB24-EFFD98153BE6}" srcOrd="0" destOrd="0" presId="urn:microsoft.com/office/officeart/2005/8/layout/vList5"/>
    <dgm:cxn modelId="{3979D49B-27F2-46B8-9492-959089772F92}" type="presOf" srcId="{785F7BA8-7703-46B4-AF84-814DE588B5A9}" destId="{4DA1386B-5E55-4D13-89B8-144E9226E980}" srcOrd="0" destOrd="1" presId="urn:microsoft.com/office/officeart/2005/8/layout/vList5"/>
    <dgm:cxn modelId="{7142339D-EA7D-419E-ABED-376B16BDC0A7}" type="presOf" srcId="{EC0985F6-8490-404E-8437-D7BEE8BCB72A}" destId="{A7003176-9A3A-4A7C-BDDF-BF27CA9EBD30}" srcOrd="0" destOrd="1" presId="urn:microsoft.com/office/officeart/2005/8/layout/vList5"/>
    <dgm:cxn modelId="{4E1DF5A5-CA21-46D2-8F85-C0AAD9912224}" srcId="{E9FF58BE-C220-4108-960B-66EC303F0F9B}" destId="{041B1474-102D-4614-BAA9-D75B95D3B3C6}" srcOrd="4" destOrd="0" parTransId="{D84812CB-2AFD-4DB2-869E-73585C5500CB}" sibTransId="{DFB3F741-AAAA-418D-AC08-77219D062C96}"/>
    <dgm:cxn modelId="{6550FCA6-3407-4F49-B33A-6705DEC02146}" srcId="{FBA115F5-7B9C-4746-85E6-7694564F8682}" destId="{1E5E5E41-F8EE-4C3D-8EE8-9769D472DCF9}" srcOrd="3" destOrd="0" parTransId="{F9C77D69-B3FB-4ED7-BD9E-A5CB61E6AA8F}" sibTransId="{9F7D5A54-BFD1-4B1F-B55A-EE18F387924A}"/>
    <dgm:cxn modelId="{D333CCAE-D6B4-48E3-BCC0-AC1E6AEB7246}" srcId="{F1C9E7AA-5CAD-4892-B259-4BA8B283107E}" destId="{9239EAB3-754F-47D9-BCF0-1D4C9A54F8E6}" srcOrd="2" destOrd="0" parTransId="{6251A035-4AC4-4F1A-B420-2869052ED877}" sibTransId="{000944A1-867E-40C4-B44D-4F20FBA1BE1E}"/>
    <dgm:cxn modelId="{CB3207C0-9C65-45BC-A9F2-A8A883F52DD5}" srcId="{E82F7BBF-F76B-4F37-A699-F2ECE07A9E8B}" destId="{EC0985F6-8490-404E-8437-D7BEE8BCB72A}" srcOrd="1" destOrd="0" parTransId="{1A1BBFB5-8A23-499C-9246-AB6EB851340F}" sibTransId="{ECE942B7-320B-4C57-9B06-466C48CFA8F3}"/>
    <dgm:cxn modelId="{567261C0-D3A1-46F2-883B-6155B163D7A8}" srcId="{E9FF58BE-C220-4108-960B-66EC303F0F9B}" destId="{785F7BA8-7703-46B4-AF84-814DE588B5A9}" srcOrd="1" destOrd="0" parTransId="{BA41F925-F7B0-43E3-ADC6-C6FD1DCA2984}" sibTransId="{C0FDDE5E-63B9-4E88-B2E4-5BD24DA7A447}"/>
    <dgm:cxn modelId="{9D5BE9C7-824F-4E4B-90CE-EEE2BAD9D02D}" type="presOf" srcId="{303759F8-4C48-4099-8C89-29D5A1420578}" destId="{048EB2A2-CC66-470D-87B5-250B8C933CF6}" srcOrd="0" destOrd="0" presId="urn:microsoft.com/office/officeart/2005/8/layout/vList5"/>
    <dgm:cxn modelId="{6B0A65CD-12CD-4197-B549-994DBC30FE3F}" type="presOf" srcId="{1E5E5E41-F8EE-4C3D-8EE8-9769D472DCF9}" destId="{EC68A62C-2A8F-4C87-A160-F348767377B3}" srcOrd="0" destOrd="0" presId="urn:microsoft.com/office/officeart/2005/8/layout/vList5"/>
    <dgm:cxn modelId="{4D2C41D0-036D-416E-9637-B121D14CD4EC}" type="presOf" srcId="{808DB5F9-8A6B-4E07-AAE9-0D712F88381D}" destId="{4DA1386B-5E55-4D13-89B8-144E9226E980}" srcOrd="0" destOrd="3" presId="urn:microsoft.com/office/officeart/2005/8/layout/vList5"/>
    <dgm:cxn modelId="{E369B7EC-DD65-49BE-A509-67E625A7762D}" srcId="{F1C9E7AA-5CAD-4892-B259-4BA8B283107E}" destId="{56701845-293B-45AD-A8ED-D977D048FC19}" srcOrd="1" destOrd="0" parTransId="{AEEA10FE-EA63-4DAA-BECC-8E64E1A27554}" sibTransId="{D9E66D12-8CEC-4E45-87F8-CD2941908521}"/>
    <dgm:cxn modelId="{07B332FA-C027-4839-A674-E7560F6F9A89}" type="presOf" srcId="{52179E1F-D1C9-4535-A6CD-7252D95B1BDA}" destId="{A7003176-9A3A-4A7C-BDDF-BF27CA9EBD30}" srcOrd="0" destOrd="2" presId="urn:microsoft.com/office/officeart/2005/8/layout/vList5"/>
    <dgm:cxn modelId="{B5C67F9B-0331-4FDD-B3BB-C75414562E83}" type="presParOf" srcId="{4FCE111D-DA17-4C6F-90C0-3C99A3BA8971}" destId="{E6C67575-9666-4CAB-8534-B34A53125CA4}" srcOrd="0" destOrd="0" presId="urn:microsoft.com/office/officeart/2005/8/layout/vList5"/>
    <dgm:cxn modelId="{0D269160-D3AE-4E1B-AE6D-7437E0E4A569}" type="presParOf" srcId="{E6C67575-9666-4CAB-8534-B34A53125CA4}" destId="{AB809D25-9872-4C7B-BE76-3DB46A2FEDCA}" srcOrd="0" destOrd="0" presId="urn:microsoft.com/office/officeart/2005/8/layout/vList5"/>
    <dgm:cxn modelId="{A1077E48-5A63-43D0-86F8-CFB6C4348201}" type="presParOf" srcId="{E6C67575-9666-4CAB-8534-B34A53125CA4}" destId="{4DA1386B-5E55-4D13-89B8-144E9226E980}" srcOrd="1" destOrd="0" presId="urn:microsoft.com/office/officeart/2005/8/layout/vList5"/>
    <dgm:cxn modelId="{65E740BD-680E-4A5E-A7E9-B199EE5045D8}" type="presParOf" srcId="{4FCE111D-DA17-4C6F-90C0-3C99A3BA8971}" destId="{E74C90F0-B895-4DF6-880D-8355383346F4}" srcOrd="1" destOrd="0" presId="urn:microsoft.com/office/officeart/2005/8/layout/vList5"/>
    <dgm:cxn modelId="{EF0F2C0F-99CD-4EDB-97E6-022FC3E46B02}" type="presParOf" srcId="{4FCE111D-DA17-4C6F-90C0-3C99A3BA8971}" destId="{B7740300-4184-4D6E-8A08-603CD6AC999A}" srcOrd="2" destOrd="0" presId="urn:microsoft.com/office/officeart/2005/8/layout/vList5"/>
    <dgm:cxn modelId="{6E930684-0300-413E-8418-AABEFB0F2EBB}" type="presParOf" srcId="{B7740300-4184-4D6E-8A08-603CD6AC999A}" destId="{CBF21375-4AB8-4376-BA80-DB785DFE78EB}" srcOrd="0" destOrd="0" presId="urn:microsoft.com/office/officeart/2005/8/layout/vList5"/>
    <dgm:cxn modelId="{232E817F-DBC2-4538-86CB-DC37F149FA3C}" type="presParOf" srcId="{B7740300-4184-4D6E-8A08-603CD6AC999A}" destId="{A7003176-9A3A-4A7C-BDDF-BF27CA9EBD30}" srcOrd="1" destOrd="0" presId="urn:microsoft.com/office/officeart/2005/8/layout/vList5"/>
    <dgm:cxn modelId="{2C07270C-10D1-4E15-ABC2-A262FE7BF183}" type="presParOf" srcId="{4FCE111D-DA17-4C6F-90C0-3C99A3BA8971}" destId="{37DC72D1-6933-4674-A2C1-F63E45131821}" srcOrd="3" destOrd="0" presId="urn:microsoft.com/office/officeart/2005/8/layout/vList5"/>
    <dgm:cxn modelId="{9F3DF150-739A-41E4-A659-5130D9C46C15}" type="presParOf" srcId="{4FCE111D-DA17-4C6F-90C0-3C99A3BA8971}" destId="{6649CFFA-802A-467A-94E6-29260F038C01}" srcOrd="4" destOrd="0" presId="urn:microsoft.com/office/officeart/2005/8/layout/vList5"/>
    <dgm:cxn modelId="{8FDDB887-570F-47B5-99EB-CAB9A1A4BC5C}" type="presParOf" srcId="{6649CFFA-802A-467A-94E6-29260F038C01}" destId="{2DE7A34C-9F6C-4A3D-BB24-EFFD98153BE6}" srcOrd="0" destOrd="0" presId="urn:microsoft.com/office/officeart/2005/8/layout/vList5"/>
    <dgm:cxn modelId="{E9A9CB1F-577E-4181-8930-A6B3A826531B}" type="presParOf" srcId="{6649CFFA-802A-467A-94E6-29260F038C01}" destId="{048EB2A2-CC66-470D-87B5-250B8C933CF6}" srcOrd="1" destOrd="0" presId="urn:microsoft.com/office/officeart/2005/8/layout/vList5"/>
    <dgm:cxn modelId="{0B7CDB1D-2DFD-45DD-9A8B-D68E9D3DDD51}" type="presParOf" srcId="{4FCE111D-DA17-4C6F-90C0-3C99A3BA8971}" destId="{BF702F42-CFF8-4697-8E90-4EFF4A797EC8}" srcOrd="5" destOrd="0" presId="urn:microsoft.com/office/officeart/2005/8/layout/vList5"/>
    <dgm:cxn modelId="{267D76FA-7CF0-4EE0-9CD4-BFC558D988E1}" type="presParOf" srcId="{4FCE111D-DA17-4C6F-90C0-3C99A3BA8971}" destId="{3FD617A5-4DDC-40B1-BF78-14E6945A390D}" srcOrd="6" destOrd="0" presId="urn:microsoft.com/office/officeart/2005/8/layout/vList5"/>
    <dgm:cxn modelId="{4B4DC09C-72CA-41FD-9161-E100F1E5804E}" type="presParOf" srcId="{3FD617A5-4DDC-40B1-BF78-14E6945A390D}" destId="{EC68A62C-2A8F-4C87-A160-F348767377B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446BE-2588-4765-8F19-52B7D148CF9C}">
      <dsp:nvSpPr>
        <dsp:cNvPr id="0" name=""/>
        <dsp:cNvSpPr/>
      </dsp:nvSpPr>
      <dsp:spPr>
        <a:xfrm>
          <a:off x="-6434751" y="-984557"/>
          <a:ext cx="7661889" cy="7661889"/>
        </a:xfrm>
        <a:prstGeom prst="blockArc">
          <a:avLst>
            <a:gd name="adj1" fmla="val 18900000"/>
            <a:gd name="adj2" fmla="val 2700000"/>
            <a:gd name="adj3" fmla="val 282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683F6-79B8-4FFD-8544-7BFEBCEE9777}">
      <dsp:nvSpPr>
        <dsp:cNvPr id="0" name=""/>
        <dsp:cNvSpPr/>
      </dsp:nvSpPr>
      <dsp:spPr>
        <a:xfrm>
          <a:off x="958832" y="281519"/>
          <a:ext cx="10731156" cy="1659899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72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les réformes </a:t>
          </a:r>
          <a:r>
            <a:rPr lang="fr-FR" sz="2400" kern="1200" dirty="0" err="1"/>
            <a:t>curriculaires</a:t>
          </a:r>
          <a:r>
            <a:rPr lang="fr-FR" sz="2400" kern="1200" dirty="0"/>
            <a:t> au primaire et au premier cycle du secondaire, la politique des sous-cycles, la politique d’alimentation scolaire, la politique enseignante, la stratégie de développement de l’ETFP, la loi d’orientation de l’enseignement supérieur, l’adoption de la stratégie du faire faire en alphabétisation</a:t>
          </a:r>
          <a:r>
            <a:rPr lang="fr-FR" sz="2000" kern="1200" dirty="0"/>
            <a:t>,…. </a:t>
          </a:r>
        </a:p>
      </dsp:txBody>
      <dsp:txXfrm>
        <a:off x="958832" y="281519"/>
        <a:ext cx="10731156" cy="1659899"/>
      </dsp:txXfrm>
    </dsp:sp>
    <dsp:sp modelId="{CB3C55A9-66CB-484A-ACAB-A4DCF00181CC}">
      <dsp:nvSpPr>
        <dsp:cNvPr id="0" name=""/>
        <dsp:cNvSpPr/>
      </dsp:nvSpPr>
      <dsp:spPr>
        <a:xfrm>
          <a:off x="78560" y="426958"/>
          <a:ext cx="1423193" cy="1423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94609-BB2E-40D4-BBB1-D3A8570A436C}">
      <dsp:nvSpPr>
        <dsp:cNvPr id="0" name=""/>
        <dsp:cNvSpPr/>
      </dsp:nvSpPr>
      <dsp:spPr>
        <a:xfrm>
          <a:off x="1204021" y="2277110"/>
          <a:ext cx="10464916" cy="1138555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72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- </a:t>
          </a:r>
          <a:r>
            <a:rPr lang="fr-FR" sz="2100" b="1" kern="1200" dirty="0"/>
            <a:t>La vision 2030 </a:t>
          </a:r>
          <a:r>
            <a:rPr lang="fr-FR" sz="2100" kern="1200" dirty="0"/>
            <a:t>du Chef de l’Etat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- </a:t>
          </a:r>
          <a:r>
            <a:rPr lang="fr-FR" sz="2100" b="1" kern="1200" dirty="0"/>
            <a:t>Le PND </a:t>
          </a:r>
          <a:r>
            <a:rPr lang="fr-FR" sz="2100" kern="1200" dirty="0"/>
            <a:t>avec son axe 3 dont le but est de renforcer les capacités institutionnelles et humaines appropriées pour relever les défis de développement du Togo.</a:t>
          </a:r>
        </a:p>
      </dsp:txBody>
      <dsp:txXfrm>
        <a:off x="1204021" y="2277110"/>
        <a:ext cx="10464916" cy="1138555"/>
      </dsp:txXfrm>
    </dsp:sp>
    <dsp:sp modelId="{7C9EFF93-D619-441B-B280-BDA12C7D8E2A}">
      <dsp:nvSpPr>
        <dsp:cNvPr id="0" name=""/>
        <dsp:cNvSpPr/>
      </dsp:nvSpPr>
      <dsp:spPr>
        <a:xfrm>
          <a:off x="492425" y="2134790"/>
          <a:ext cx="1423193" cy="1423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665CA-FAE9-45EA-8E14-BB14E579E150}">
      <dsp:nvSpPr>
        <dsp:cNvPr id="0" name=""/>
        <dsp:cNvSpPr/>
      </dsp:nvSpPr>
      <dsp:spPr>
        <a:xfrm>
          <a:off x="971996" y="3896425"/>
          <a:ext cx="10684377" cy="151679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72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- </a:t>
          </a:r>
          <a:r>
            <a:rPr lang="fr-FR" sz="2100" b="1" kern="1200" dirty="0"/>
            <a:t>L’Agenda 2063 </a:t>
          </a:r>
          <a:r>
            <a:rPr lang="fr-FR" sz="2100" kern="1200" dirty="0"/>
            <a:t>de l’Union Africaine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- </a:t>
          </a:r>
          <a:r>
            <a:rPr lang="fr-FR" sz="2100" b="1" kern="1200" dirty="0"/>
            <a:t>L’ODD4</a:t>
          </a:r>
          <a:r>
            <a:rPr lang="fr-FR" sz="2100" kern="1200" dirty="0"/>
            <a:t> : «</a:t>
          </a:r>
          <a:r>
            <a:rPr lang="fr-FR" sz="2100" i="1" kern="1200" dirty="0"/>
            <a:t>assurer une éducation inclusive et équitable de qualité et promouvoir des possibilités d’apprentissage tout au long de la vie pour tous »</a:t>
          </a:r>
          <a:r>
            <a:rPr lang="fr-FR" sz="2100" kern="1200" dirty="0"/>
            <a:t> </a:t>
          </a:r>
        </a:p>
      </dsp:txBody>
      <dsp:txXfrm>
        <a:off x="971996" y="3896425"/>
        <a:ext cx="10684377" cy="1516794"/>
      </dsp:txXfrm>
    </dsp:sp>
    <dsp:sp modelId="{3648DEC2-497C-4652-AC5A-3FD36FDE4841}">
      <dsp:nvSpPr>
        <dsp:cNvPr id="0" name=""/>
        <dsp:cNvSpPr/>
      </dsp:nvSpPr>
      <dsp:spPr>
        <a:xfrm>
          <a:off x="92507" y="3842623"/>
          <a:ext cx="1423193" cy="1423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A565B-7F2E-4021-AF5E-6FE8C0E4665E}">
      <dsp:nvSpPr>
        <dsp:cNvPr id="0" name=""/>
        <dsp:cNvSpPr/>
      </dsp:nvSpPr>
      <dsp:spPr>
        <a:xfrm rot="5400000">
          <a:off x="-262063" y="509018"/>
          <a:ext cx="1746893" cy="1222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 dirty="0"/>
        </a:p>
      </dsp:txBody>
      <dsp:txXfrm rot="-5400000">
        <a:off x="-28" y="858397"/>
        <a:ext cx="1222825" cy="524068"/>
      </dsp:txXfrm>
    </dsp:sp>
    <dsp:sp modelId="{977B73E4-17F2-4ED4-9015-BA08FB9872CB}">
      <dsp:nvSpPr>
        <dsp:cNvPr id="0" name=""/>
        <dsp:cNvSpPr/>
      </dsp:nvSpPr>
      <dsp:spPr>
        <a:xfrm rot="5400000">
          <a:off x="2390230" y="-1124132"/>
          <a:ext cx="1542845" cy="38777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Actualiser le diagnostic sectoriel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Elaborer le modèle de simulation financière</a:t>
          </a:r>
        </a:p>
      </dsp:txBody>
      <dsp:txXfrm rot="-5400000">
        <a:off x="1222797" y="118616"/>
        <a:ext cx="3802398" cy="1392215"/>
      </dsp:txXfrm>
    </dsp:sp>
    <dsp:sp modelId="{0E5A9762-A2C8-419D-8CE6-1F7E593DBFBD}">
      <dsp:nvSpPr>
        <dsp:cNvPr id="0" name=""/>
        <dsp:cNvSpPr/>
      </dsp:nvSpPr>
      <dsp:spPr>
        <a:xfrm rot="5400000">
          <a:off x="-262063" y="2184021"/>
          <a:ext cx="1746893" cy="1222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 dirty="0"/>
        </a:p>
      </dsp:txBody>
      <dsp:txXfrm rot="-5400000">
        <a:off x="-28" y="2533400"/>
        <a:ext cx="1222825" cy="524068"/>
      </dsp:txXfrm>
    </dsp:sp>
    <dsp:sp modelId="{98A9C0EF-8CC0-47A6-902F-71553B6B22AE}">
      <dsp:nvSpPr>
        <dsp:cNvPr id="0" name=""/>
        <dsp:cNvSpPr/>
      </dsp:nvSpPr>
      <dsp:spPr>
        <a:xfrm rot="5400000">
          <a:off x="2488636" y="550813"/>
          <a:ext cx="1346032" cy="38778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Elaborer les scénarios de politique éducative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Identifier les stratégies sectorielles</a:t>
          </a:r>
        </a:p>
      </dsp:txBody>
      <dsp:txXfrm rot="-5400000">
        <a:off x="1222738" y="1882419"/>
        <a:ext cx="3812121" cy="1214616"/>
      </dsp:txXfrm>
    </dsp:sp>
    <dsp:sp modelId="{59E15129-4E89-4474-BE74-8837686BA8C6}">
      <dsp:nvSpPr>
        <dsp:cNvPr id="0" name=""/>
        <dsp:cNvSpPr/>
      </dsp:nvSpPr>
      <dsp:spPr>
        <a:xfrm rot="5400000">
          <a:off x="-262063" y="3753748"/>
          <a:ext cx="1746893" cy="1222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 dirty="0"/>
        </a:p>
      </dsp:txBody>
      <dsp:txXfrm rot="-5400000">
        <a:off x="-28" y="4103127"/>
        <a:ext cx="1222825" cy="524068"/>
      </dsp:txXfrm>
    </dsp:sp>
    <dsp:sp modelId="{CDF16239-0F49-428C-AF64-CA409271762A}">
      <dsp:nvSpPr>
        <dsp:cNvPr id="0" name=""/>
        <dsp:cNvSpPr/>
      </dsp:nvSpPr>
      <dsp:spPr>
        <a:xfrm rot="5400000">
          <a:off x="2593912" y="2120598"/>
          <a:ext cx="1135480" cy="38777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Elaborer la matrice des indicateurs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Préparer les PTAB</a:t>
          </a:r>
        </a:p>
      </dsp:txBody>
      <dsp:txXfrm rot="-5400000">
        <a:off x="1222796" y="3547144"/>
        <a:ext cx="3822283" cy="1024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182633" y="-2850521"/>
          <a:ext cx="1352252" cy="739648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Augmenter les effectifs (augmenter les capacités d’accueil et d’encadrement ; promouvoir l’inclusion)</a:t>
          </a:r>
        </a:p>
      </dsp:txBody>
      <dsp:txXfrm rot="-5400000">
        <a:off x="4160519" y="237605"/>
        <a:ext cx="7330468" cy="1220228"/>
      </dsp:txXfrm>
    </dsp:sp>
    <dsp:sp modelId="{AB809D25-9872-4C7B-BE76-3DB46A2FEDCA}">
      <dsp:nvSpPr>
        <dsp:cNvPr id="0" name=""/>
        <dsp:cNvSpPr/>
      </dsp:nvSpPr>
      <dsp:spPr>
        <a:xfrm>
          <a:off x="0" y="2561"/>
          <a:ext cx="4160520" cy="16903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l’accès à un enseignement préscolaire équitable et inclusif</a:t>
          </a:r>
        </a:p>
      </dsp:txBody>
      <dsp:txXfrm>
        <a:off x="82514" y="85075"/>
        <a:ext cx="3995492" cy="1525287"/>
      </dsp:txXfrm>
    </dsp:sp>
    <dsp:sp modelId="{A7003176-9A3A-4A7C-BDDF-BF27CA9EBD30}">
      <dsp:nvSpPr>
        <dsp:cNvPr id="0" name=""/>
        <dsp:cNvSpPr/>
      </dsp:nvSpPr>
      <dsp:spPr>
        <a:xfrm rot="5400000">
          <a:off x="7182633" y="-1075690"/>
          <a:ext cx="1352252" cy="7396480"/>
        </a:xfrm>
        <a:prstGeom prst="round2SameRect">
          <a:avLst/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Disposer d’éducatrices et d’éducateurs qualifiés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Améliorer la dotation des écoles en matériels pédagogiques</a:t>
          </a:r>
        </a:p>
      </dsp:txBody>
      <dsp:txXfrm rot="-5400000">
        <a:off x="4160519" y="2012436"/>
        <a:ext cx="7330468" cy="1220228"/>
      </dsp:txXfrm>
    </dsp:sp>
    <dsp:sp modelId="{CBF21375-4AB8-4376-BA80-DB785DFE78EB}">
      <dsp:nvSpPr>
        <dsp:cNvPr id="0" name=""/>
        <dsp:cNvSpPr/>
      </dsp:nvSpPr>
      <dsp:spPr>
        <a:xfrm>
          <a:off x="0" y="1777392"/>
          <a:ext cx="4160520" cy="1690315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la qualité de l’enseignement préscolaire</a:t>
          </a:r>
        </a:p>
      </dsp:txBody>
      <dsp:txXfrm>
        <a:off x="82514" y="1859906"/>
        <a:ext cx="3995492" cy="1525287"/>
      </dsp:txXfrm>
    </dsp:sp>
    <dsp:sp modelId="{048EB2A2-CC66-470D-87B5-250B8C933CF6}">
      <dsp:nvSpPr>
        <dsp:cNvPr id="0" name=""/>
        <dsp:cNvSpPr/>
      </dsp:nvSpPr>
      <dsp:spPr>
        <a:xfrm rot="5400000">
          <a:off x="7182633" y="699141"/>
          <a:ext cx="1352252" cy="7396480"/>
        </a:xfrm>
        <a:prstGeom prst="round2Same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Améliorer le cadre réglementaire du préscolaire</a:t>
          </a:r>
        </a:p>
      </dsp:txBody>
      <dsp:txXfrm rot="-5400000">
        <a:off x="4160519" y="3787267"/>
        <a:ext cx="7330468" cy="1220228"/>
      </dsp:txXfrm>
    </dsp:sp>
    <dsp:sp modelId="{2DE7A34C-9F6C-4A3D-BB24-EFFD98153BE6}">
      <dsp:nvSpPr>
        <dsp:cNvPr id="0" name=""/>
        <dsp:cNvSpPr/>
      </dsp:nvSpPr>
      <dsp:spPr>
        <a:xfrm>
          <a:off x="0" y="3552223"/>
          <a:ext cx="4160520" cy="169031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la gestion et la coordination de l’enseignement préscolaire</a:t>
          </a:r>
        </a:p>
      </dsp:txBody>
      <dsp:txXfrm>
        <a:off x="82514" y="3634737"/>
        <a:ext cx="3995492" cy="15252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263510" y="-2843704"/>
          <a:ext cx="1466850" cy="752652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Augmenter l’offre, stimuler la demande pour les enfants vulnérables, créer un environnement protecteur pour tous les enfants.</a:t>
          </a:r>
        </a:p>
      </dsp:txBody>
      <dsp:txXfrm rot="-5400000">
        <a:off x="4233671" y="257741"/>
        <a:ext cx="7454922" cy="1323638"/>
      </dsp:txXfrm>
    </dsp:sp>
    <dsp:sp modelId="{AB809D25-9872-4C7B-BE76-3DB46A2FEDCA}">
      <dsp:nvSpPr>
        <dsp:cNvPr id="0" name=""/>
        <dsp:cNvSpPr/>
      </dsp:nvSpPr>
      <dsp:spPr>
        <a:xfrm>
          <a:off x="0" y="2778"/>
          <a:ext cx="4233672" cy="18335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Améliorer l’accès équitable au primaire et réduire les disparités</a:t>
          </a:r>
        </a:p>
      </dsp:txBody>
      <dsp:txXfrm>
        <a:off x="89507" y="92285"/>
        <a:ext cx="4054658" cy="1654548"/>
      </dsp:txXfrm>
    </dsp:sp>
    <dsp:sp modelId="{A7003176-9A3A-4A7C-BDDF-BF27CA9EBD30}">
      <dsp:nvSpPr>
        <dsp:cNvPr id="0" name=""/>
        <dsp:cNvSpPr/>
      </dsp:nvSpPr>
      <dsp:spPr>
        <a:xfrm rot="5400000">
          <a:off x="7094588" y="-918463"/>
          <a:ext cx="1804694" cy="7526528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la formation initiale et continue des enseignants, la répartition des enseignants, l’efficience, l’encadrement pédagogique des enseignants, le temps d’apprentissage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Poursuivre la réforme curriculaire et la politique des manuels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Doter les établissements en matériels pédagogiques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le système d’évaluation des apprentissage</a:t>
          </a:r>
        </a:p>
      </dsp:txBody>
      <dsp:txXfrm rot="-5400000">
        <a:off x="4233671" y="2030552"/>
        <a:ext cx="7438430" cy="1628498"/>
      </dsp:txXfrm>
    </dsp:sp>
    <dsp:sp modelId="{CBF21375-4AB8-4376-BA80-DB785DFE78EB}">
      <dsp:nvSpPr>
        <dsp:cNvPr id="0" name=""/>
        <dsp:cNvSpPr/>
      </dsp:nvSpPr>
      <dsp:spPr>
        <a:xfrm>
          <a:off x="0" y="1928018"/>
          <a:ext cx="4233672" cy="183356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Améliorer la qualité de l’enseignement primaire</a:t>
          </a:r>
        </a:p>
      </dsp:txBody>
      <dsp:txXfrm>
        <a:off x="89507" y="2017525"/>
        <a:ext cx="4054658" cy="1654548"/>
      </dsp:txXfrm>
    </dsp:sp>
    <dsp:sp modelId="{048EB2A2-CC66-470D-87B5-250B8C933CF6}">
      <dsp:nvSpPr>
        <dsp:cNvPr id="0" name=""/>
        <dsp:cNvSpPr/>
      </dsp:nvSpPr>
      <dsp:spPr>
        <a:xfrm rot="5400000">
          <a:off x="7263511" y="1006776"/>
          <a:ext cx="1466850" cy="7526528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les outils de pilotage des écoles,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Renforcer le rôle des directeurs,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la gouvernance des écoles (projets d’écoles, suivi contrôle des dépenses)</a:t>
          </a:r>
        </a:p>
      </dsp:txBody>
      <dsp:txXfrm rot="-5400000">
        <a:off x="4233672" y="4108221"/>
        <a:ext cx="7454922" cy="1323638"/>
      </dsp:txXfrm>
    </dsp:sp>
    <dsp:sp modelId="{2DE7A34C-9F6C-4A3D-BB24-EFFD98153BE6}">
      <dsp:nvSpPr>
        <dsp:cNvPr id="0" name=""/>
        <dsp:cNvSpPr/>
      </dsp:nvSpPr>
      <dsp:spPr>
        <a:xfrm>
          <a:off x="0" y="3853259"/>
          <a:ext cx="4233672" cy="183356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Améliorer la gouvernance/gestion des écoles</a:t>
          </a:r>
        </a:p>
      </dsp:txBody>
      <dsp:txXfrm>
        <a:off x="89507" y="3942766"/>
        <a:ext cx="4054658" cy="16545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304438" y="-2895019"/>
          <a:ext cx="1384994" cy="752652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Améliorer l’offre scolaire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Améliorer l’efficience (amélioration des taux d’achèvement)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Créer un environnement scolaire attrayant et protecteur</a:t>
          </a:r>
        </a:p>
      </dsp:txBody>
      <dsp:txXfrm rot="-5400000">
        <a:off x="4233671" y="243358"/>
        <a:ext cx="7458918" cy="1249774"/>
      </dsp:txXfrm>
    </dsp:sp>
    <dsp:sp modelId="{AB809D25-9872-4C7B-BE76-3DB46A2FEDCA}">
      <dsp:nvSpPr>
        <dsp:cNvPr id="0" name=""/>
        <dsp:cNvSpPr/>
      </dsp:nvSpPr>
      <dsp:spPr>
        <a:xfrm>
          <a:off x="0" y="2623"/>
          <a:ext cx="4233672" cy="173124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Améliorer l’accès équitable au secondaire 1 et 2</a:t>
          </a:r>
        </a:p>
      </dsp:txBody>
      <dsp:txXfrm>
        <a:off x="84512" y="87135"/>
        <a:ext cx="4064648" cy="1562219"/>
      </dsp:txXfrm>
    </dsp:sp>
    <dsp:sp modelId="{A7003176-9A3A-4A7C-BDDF-BF27CA9EBD30}">
      <dsp:nvSpPr>
        <dsp:cNvPr id="0" name=""/>
        <dsp:cNvSpPr/>
      </dsp:nvSpPr>
      <dsp:spPr>
        <a:xfrm rot="5400000">
          <a:off x="7144942" y="-1077214"/>
          <a:ext cx="1703986" cy="7526528"/>
        </a:xfrm>
        <a:prstGeom prst="round2SameRect">
          <a:avLst/>
        </a:prstGeom>
        <a:solidFill>
          <a:schemeClr val="accent4">
            <a:tint val="40000"/>
            <a:alpha val="90000"/>
            <a:hueOff val="5756959"/>
            <a:satOff val="-30630"/>
            <a:lumOff val="-174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756959"/>
              <a:satOff val="-30630"/>
              <a:lumOff val="-1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la formation initiale et continue des enseignants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Poursuivre la réforme curriculaire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Doter les établissements en matériel didactique et pédagogique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l’encadrement pédagogique.</a:t>
          </a:r>
        </a:p>
      </dsp:txBody>
      <dsp:txXfrm rot="-5400000">
        <a:off x="4233671" y="1917239"/>
        <a:ext cx="7443346" cy="1537622"/>
      </dsp:txXfrm>
    </dsp:sp>
    <dsp:sp modelId="{CBF21375-4AB8-4376-BA80-DB785DFE78EB}">
      <dsp:nvSpPr>
        <dsp:cNvPr id="0" name=""/>
        <dsp:cNvSpPr/>
      </dsp:nvSpPr>
      <dsp:spPr>
        <a:xfrm>
          <a:off x="0" y="1820428"/>
          <a:ext cx="4233672" cy="1731243"/>
        </a:xfrm>
        <a:prstGeom prst="round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Améliorer la qualité de l’enseignement secondaire</a:t>
          </a:r>
        </a:p>
      </dsp:txBody>
      <dsp:txXfrm>
        <a:off x="84512" y="1904940"/>
        <a:ext cx="4064648" cy="1562219"/>
      </dsp:txXfrm>
    </dsp:sp>
    <dsp:sp modelId="{048EB2A2-CC66-470D-87B5-250B8C933CF6}">
      <dsp:nvSpPr>
        <dsp:cNvPr id="0" name=""/>
        <dsp:cNvSpPr/>
      </dsp:nvSpPr>
      <dsp:spPr>
        <a:xfrm rot="5400000">
          <a:off x="7304438" y="740591"/>
          <a:ext cx="1384994" cy="7526528"/>
        </a:xfrm>
        <a:prstGeom prst="round2SameRect">
          <a:avLst/>
        </a:prstGeom>
        <a:solidFill>
          <a:schemeClr val="accent4">
            <a:tint val="40000"/>
            <a:alpha val="90000"/>
            <a:hueOff val="11513918"/>
            <a:satOff val="-61261"/>
            <a:lumOff val="-349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1513918"/>
              <a:satOff val="-61261"/>
              <a:lumOff val="-3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Renforcer le rôle des chefs d’établissements,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kern="1200" dirty="0"/>
            <a:t>Améliorer la gouvernance participative des établissements scolaires</a:t>
          </a:r>
        </a:p>
      </dsp:txBody>
      <dsp:txXfrm rot="-5400000">
        <a:off x="4233671" y="3878968"/>
        <a:ext cx="7458918" cy="1249774"/>
      </dsp:txXfrm>
    </dsp:sp>
    <dsp:sp modelId="{2DE7A34C-9F6C-4A3D-BB24-EFFD98153BE6}">
      <dsp:nvSpPr>
        <dsp:cNvPr id="0" name=""/>
        <dsp:cNvSpPr/>
      </dsp:nvSpPr>
      <dsp:spPr>
        <a:xfrm>
          <a:off x="0" y="3638233"/>
          <a:ext cx="4233672" cy="1731243"/>
        </a:xfrm>
        <a:prstGeom prst="round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Améliorer la gouvernance/gestion des établissements scolaires</a:t>
          </a:r>
        </a:p>
      </dsp:txBody>
      <dsp:txXfrm>
        <a:off x="84512" y="3722745"/>
        <a:ext cx="4064648" cy="15622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206731" y="-2868335"/>
          <a:ext cx="1580408" cy="752652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Offrir des informations sur les formations disponibles et les débouchés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Augmenter les capacités d’accueil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Améliorer la pertinence de l’offre de formation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Renforcer l’accès à la formation professionnelle duale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Développer les formations professionnelles de courte durée, etc.</a:t>
          </a:r>
        </a:p>
      </dsp:txBody>
      <dsp:txXfrm rot="-5400000">
        <a:off x="4233672" y="181873"/>
        <a:ext cx="7449379" cy="1426110"/>
      </dsp:txXfrm>
    </dsp:sp>
    <dsp:sp modelId="{AB809D25-9872-4C7B-BE76-3DB46A2FEDCA}">
      <dsp:nvSpPr>
        <dsp:cNvPr id="0" name=""/>
        <dsp:cNvSpPr/>
      </dsp:nvSpPr>
      <dsp:spPr>
        <a:xfrm>
          <a:off x="0" y="2703"/>
          <a:ext cx="4233672" cy="17844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l’accès équitable à l’enseignement technique et la formation professionnelle</a:t>
          </a:r>
        </a:p>
      </dsp:txBody>
      <dsp:txXfrm>
        <a:off x="87110" y="89813"/>
        <a:ext cx="4059452" cy="1610229"/>
      </dsp:txXfrm>
    </dsp:sp>
    <dsp:sp modelId="{A7003176-9A3A-4A7C-BDDF-BF27CA9EBD30}">
      <dsp:nvSpPr>
        <dsp:cNvPr id="0" name=""/>
        <dsp:cNvSpPr/>
      </dsp:nvSpPr>
      <dsp:spPr>
        <a:xfrm rot="5400000">
          <a:off x="7118758" y="-994664"/>
          <a:ext cx="1756354" cy="7526528"/>
        </a:xfrm>
        <a:prstGeom prst="round2SameRect">
          <a:avLst/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Mettre à la disposition de l’ETFP des formateurs qualifiés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Mettre en œuvre une ingénierie de formation selon l’APC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les conditions d’apprentissage dans les établissements et centres de formation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Impliquer davantage le secteur privé</a:t>
          </a:r>
        </a:p>
      </dsp:txBody>
      <dsp:txXfrm rot="-5400000">
        <a:off x="4233671" y="1976161"/>
        <a:ext cx="7440790" cy="1584878"/>
      </dsp:txXfrm>
    </dsp:sp>
    <dsp:sp modelId="{CBF21375-4AB8-4376-BA80-DB785DFE78EB}">
      <dsp:nvSpPr>
        <dsp:cNvPr id="0" name=""/>
        <dsp:cNvSpPr/>
      </dsp:nvSpPr>
      <dsp:spPr>
        <a:xfrm>
          <a:off x="0" y="1876375"/>
          <a:ext cx="4233672" cy="1784449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la qualité de l’enseignement technique et la formation professionnelle</a:t>
          </a:r>
        </a:p>
      </dsp:txBody>
      <dsp:txXfrm>
        <a:off x="87110" y="1963485"/>
        <a:ext cx="4059452" cy="1610229"/>
      </dsp:txXfrm>
    </dsp:sp>
    <dsp:sp modelId="{048EB2A2-CC66-470D-87B5-250B8C933CF6}">
      <dsp:nvSpPr>
        <dsp:cNvPr id="0" name=""/>
        <dsp:cNvSpPr/>
      </dsp:nvSpPr>
      <dsp:spPr>
        <a:xfrm rot="5400000">
          <a:off x="7283156" y="879007"/>
          <a:ext cx="1427559" cy="7526528"/>
        </a:xfrm>
        <a:prstGeom prst="round2Same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Améliorer la gouvernance du sous-secteur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Améliorer la gouvernance des établissements et centres de formation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Renforcer le système de gestion des informations de l’ETFP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Disposer de financements adéquats pour le sous-secteur</a:t>
          </a:r>
        </a:p>
      </dsp:txBody>
      <dsp:txXfrm rot="-5400000">
        <a:off x="4233672" y="3998179"/>
        <a:ext cx="7456840" cy="1288183"/>
      </dsp:txXfrm>
    </dsp:sp>
    <dsp:sp modelId="{2DE7A34C-9F6C-4A3D-BB24-EFFD98153BE6}">
      <dsp:nvSpPr>
        <dsp:cNvPr id="0" name=""/>
        <dsp:cNvSpPr/>
      </dsp:nvSpPr>
      <dsp:spPr>
        <a:xfrm>
          <a:off x="0" y="3750047"/>
          <a:ext cx="4233672" cy="1784449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Améliorer la gestion et le pilotage de l’ETFP</a:t>
          </a:r>
        </a:p>
      </dsp:txBody>
      <dsp:txXfrm>
        <a:off x="87110" y="3837157"/>
        <a:ext cx="4059452" cy="16102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206731" y="-2868335"/>
          <a:ext cx="1580408" cy="752652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Elargir l’accès aux programmes d’AENF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Diversifier l’offre d’AENF et la rendre accessible à tous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Encourager l’alphabétisation des femmes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Impliquer les acteurs de la société civile et du secteur privé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700" kern="1200" dirty="0"/>
        </a:p>
      </dsp:txBody>
      <dsp:txXfrm rot="-5400000">
        <a:off x="4233672" y="181873"/>
        <a:ext cx="7449379" cy="1426110"/>
      </dsp:txXfrm>
    </dsp:sp>
    <dsp:sp modelId="{AB809D25-9872-4C7B-BE76-3DB46A2FEDCA}">
      <dsp:nvSpPr>
        <dsp:cNvPr id="0" name=""/>
        <dsp:cNvSpPr/>
      </dsp:nvSpPr>
      <dsp:spPr>
        <a:xfrm>
          <a:off x="0" y="2703"/>
          <a:ext cx="4233672" cy="17844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Améliorer l’accès et l’équité de l’AENF</a:t>
          </a:r>
        </a:p>
      </dsp:txBody>
      <dsp:txXfrm>
        <a:off x="87110" y="89813"/>
        <a:ext cx="4059452" cy="1610229"/>
      </dsp:txXfrm>
    </dsp:sp>
    <dsp:sp modelId="{A7003176-9A3A-4A7C-BDDF-BF27CA9EBD30}">
      <dsp:nvSpPr>
        <dsp:cNvPr id="0" name=""/>
        <dsp:cNvSpPr/>
      </dsp:nvSpPr>
      <dsp:spPr>
        <a:xfrm rot="5400000">
          <a:off x="7118758" y="-994664"/>
          <a:ext cx="1756354" cy="752652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la qualité des programmes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Adapter les curricula au contexte socioéconomique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Renforcer les capacités des acteurs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Renforcer le dispositif de suivi-évaluation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Développer un environnement lettré favorable à l’usage des acquis de l’alphabétisation </a:t>
          </a:r>
        </a:p>
      </dsp:txBody>
      <dsp:txXfrm rot="-5400000">
        <a:off x="4233671" y="1976161"/>
        <a:ext cx="7440790" cy="1584878"/>
      </dsp:txXfrm>
    </dsp:sp>
    <dsp:sp modelId="{CBF21375-4AB8-4376-BA80-DB785DFE78EB}">
      <dsp:nvSpPr>
        <dsp:cNvPr id="0" name=""/>
        <dsp:cNvSpPr/>
      </dsp:nvSpPr>
      <dsp:spPr>
        <a:xfrm>
          <a:off x="0" y="1876375"/>
          <a:ext cx="4233672" cy="17844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Améliorer la qualité de  l’AENF</a:t>
          </a:r>
        </a:p>
      </dsp:txBody>
      <dsp:txXfrm>
        <a:off x="87110" y="1963485"/>
        <a:ext cx="4059452" cy="1610229"/>
      </dsp:txXfrm>
    </dsp:sp>
    <dsp:sp modelId="{048EB2A2-CC66-470D-87B5-250B8C933CF6}">
      <dsp:nvSpPr>
        <dsp:cNvPr id="0" name=""/>
        <dsp:cNvSpPr/>
      </dsp:nvSpPr>
      <dsp:spPr>
        <a:xfrm rot="5400000">
          <a:off x="7283156" y="879007"/>
          <a:ext cx="1427559" cy="752652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Renforcer le pilotage de l’AENF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Accroître les financements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Renforcer le cadre juridique </a:t>
          </a:r>
        </a:p>
      </dsp:txBody>
      <dsp:txXfrm rot="-5400000">
        <a:off x="4233672" y="3998179"/>
        <a:ext cx="7456840" cy="1288183"/>
      </dsp:txXfrm>
    </dsp:sp>
    <dsp:sp modelId="{2DE7A34C-9F6C-4A3D-BB24-EFFD98153BE6}">
      <dsp:nvSpPr>
        <dsp:cNvPr id="0" name=""/>
        <dsp:cNvSpPr/>
      </dsp:nvSpPr>
      <dsp:spPr>
        <a:xfrm>
          <a:off x="0" y="3750047"/>
          <a:ext cx="4233672" cy="17844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Améliorer la gestion de l’AENF</a:t>
          </a:r>
        </a:p>
      </dsp:txBody>
      <dsp:txXfrm>
        <a:off x="87110" y="3837157"/>
        <a:ext cx="4059452" cy="1610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386B-5E55-4D13-89B8-144E9226E980}">
      <dsp:nvSpPr>
        <dsp:cNvPr id="0" name=""/>
        <dsp:cNvSpPr/>
      </dsp:nvSpPr>
      <dsp:spPr>
        <a:xfrm rot="5400000">
          <a:off x="7407933" y="-3009696"/>
          <a:ext cx="1101799" cy="745946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Rationaliser les offres de formation publiques et privées en fonction des besoins du marché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Mettre en place un système de régulation des flux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Développer l’enseignement à distance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700" kern="1200" dirty="0"/>
        </a:p>
      </dsp:txBody>
      <dsp:txXfrm rot="-5400000">
        <a:off x="4229100" y="222922"/>
        <a:ext cx="7405681" cy="994229"/>
      </dsp:txXfrm>
    </dsp:sp>
    <dsp:sp modelId="{AB809D25-9872-4C7B-BE76-3DB46A2FEDCA}">
      <dsp:nvSpPr>
        <dsp:cNvPr id="0" name=""/>
        <dsp:cNvSpPr/>
      </dsp:nvSpPr>
      <dsp:spPr>
        <a:xfrm>
          <a:off x="0" y="2771"/>
          <a:ext cx="4233672" cy="133292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Améliorer l’accès équitable à l’enseignement supérieur</a:t>
          </a:r>
        </a:p>
      </dsp:txBody>
      <dsp:txXfrm>
        <a:off x="65068" y="67839"/>
        <a:ext cx="4103536" cy="1202793"/>
      </dsp:txXfrm>
    </dsp:sp>
    <dsp:sp modelId="{A7003176-9A3A-4A7C-BDDF-BF27CA9EBD30}">
      <dsp:nvSpPr>
        <dsp:cNvPr id="0" name=""/>
        <dsp:cNvSpPr/>
      </dsp:nvSpPr>
      <dsp:spPr>
        <a:xfrm rot="5400000">
          <a:off x="7340964" y="-1694451"/>
          <a:ext cx="1311943" cy="7526528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Renforcer l’encadrement pédagogique des étudiants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Améliorer les ressources pédagogiques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Promouvoir la démarche qualité dans les établissements d’ES</a:t>
          </a:r>
        </a:p>
      </dsp:txBody>
      <dsp:txXfrm rot="-5400000">
        <a:off x="4233672" y="1476885"/>
        <a:ext cx="7462484" cy="1183855"/>
      </dsp:txXfrm>
    </dsp:sp>
    <dsp:sp modelId="{CBF21375-4AB8-4376-BA80-DB785DFE78EB}">
      <dsp:nvSpPr>
        <dsp:cNvPr id="0" name=""/>
        <dsp:cNvSpPr/>
      </dsp:nvSpPr>
      <dsp:spPr>
        <a:xfrm>
          <a:off x="0" y="1402347"/>
          <a:ext cx="4233672" cy="1332929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Améliorer la qualité dans le système d’enseignement supérieur</a:t>
          </a:r>
        </a:p>
      </dsp:txBody>
      <dsp:txXfrm>
        <a:off x="65068" y="1467415"/>
        <a:ext cx="4103536" cy="1202793"/>
      </dsp:txXfrm>
    </dsp:sp>
    <dsp:sp modelId="{048EB2A2-CC66-470D-87B5-250B8C933CF6}">
      <dsp:nvSpPr>
        <dsp:cNvPr id="0" name=""/>
        <dsp:cNvSpPr/>
      </dsp:nvSpPr>
      <dsp:spPr>
        <a:xfrm rot="5400000">
          <a:off x="7463764" y="-309090"/>
          <a:ext cx="1066343" cy="7526528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Mettre en œuvre la loi d’orientation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Diversifier les sources de financement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Renforcer le système d’information de l’ES</a:t>
          </a:r>
        </a:p>
      </dsp:txBody>
      <dsp:txXfrm rot="-5400000">
        <a:off x="4233672" y="2973057"/>
        <a:ext cx="7474473" cy="962233"/>
      </dsp:txXfrm>
    </dsp:sp>
    <dsp:sp modelId="{2DE7A34C-9F6C-4A3D-BB24-EFFD98153BE6}">
      <dsp:nvSpPr>
        <dsp:cNvPr id="0" name=""/>
        <dsp:cNvSpPr/>
      </dsp:nvSpPr>
      <dsp:spPr>
        <a:xfrm>
          <a:off x="0" y="2801923"/>
          <a:ext cx="4233672" cy="1332929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Améliorer la gestion et le pilotage</a:t>
          </a:r>
        </a:p>
      </dsp:txBody>
      <dsp:txXfrm>
        <a:off x="65068" y="2866991"/>
        <a:ext cx="4103536" cy="1202793"/>
      </dsp:txXfrm>
    </dsp:sp>
    <dsp:sp modelId="{EC68A62C-2A8F-4C87-A160-F348767377B3}">
      <dsp:nvSpPr>
        <dsp:cNvPr id="0" name=""/>
        <dsp:cNvSpPr/>
      </dsp:nvSpPr>
      <dsp:spPr>
        <a:xfrm>
          <a:off x="0" y="4201499"/>
          <a:ext cx="4233672" cy="133292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Renforcer la recherche</a:t>
          </a:r>
        </a:p>
      </dsp:txBody>
      <dsp:txXfrm>
        <a:off x="65068" y="4266567"/>
        <a:ext cx="4103536" cy="1202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D096F-7505-4E9C-B54F-FB409F5E58AE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3BC43-0788-4EFB-9546-0347D209B2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41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7C02-F6D8-47D3-AD42-811AEAE40FFE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601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5419-B51C-4125-AC73-54D9F19496A7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6502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34F0-E6FB-4D37-9D8C-DC53B6F155F8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943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7766-51B7-465E-84C4-9E4018FE3D3B}" type="datetime1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496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FD5C5-03CE-4D28-B8C9-C2BA2F79E46E}" type="datetime1">
              <a:rPr lang="fr-FR" smtClean="0"/>
              <a:t>17/09/2025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463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9F4B0-5C29-4D2D-A77B-E23F2D1359D8}" type="datetime1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566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7BE7-98AB-49DC-998D-04314A43EDBF}" type="datetime1">
              <a:rPr lang="fr-FR" smtClean="0"/>
              <a:t>17/09/2025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601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7EAF-E645-4B25-9E2D-D9EFFBC4B409}" type="datetime1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1469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0849-81BA-441F-8383-4D3E13D714DA}" type="datetime1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354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CEC3-15AA-4EF4-8091-A81F80E65503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71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D20F-9008-46B8-A8C1-797ACDF8634E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301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999DE-2A06-448E-91BC-FE902DF08AF5}" type="datetime1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10DC-0A60-41E9-9534-886F7AD3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46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2362199"/>
            <a:ext cx="12192000" cy="2019301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fr-FR" sz="5400" b="1" dirty="0"/>
              <a:t>Plan sectoriel de l’éducation du TOGO </a:t>
            </a:r>
            <a:br>
              <a:rPr lang="fr-FR" sz="5400" b="1" dirty="0"/>
            </a:br>
            <a:r>
              <a:rPr lang="fr-FR" sz="5400" b="1" dirty="0"/>
              <a:t>2020-2030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318000" y="4486651"/>
            <a:ext cx="3924300" cy="49174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2800" dirty="0"/>
              <a:t>novembre 2020</a:t>
            </a:r>
          </a:p>
        </p:txBody>
      </p:sp>
      <p:pic>
        <p:nvPicPr>
          <p:cNvPr id="4" name="Imag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916" y="250064"/>
            <a:ext cx="1474167" cy="164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Global Partnership for Edu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56" y="5570665"/>
            <a:ext cx="3248292" cy="958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160" y="5570665"/>
            <a:ext cx="2468239" cy="89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878" y="4797801"/>
            <a:ext cx="2728926" cy="1669304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9448800" y="226296"/>
            <a:ext cx="242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cap="small" dirty="0"/>
              <a:t>Secrétariat Technique Permanent du PSE</a:t>
            </a:r>
          </a:p>
        </p:txBody>
      </p:sp>
    </p:spTree>
    <p:extLst>
      <p:ext uri="{BB962C8B-B14F-4D97-AF65-F5344CB8AC3E}">
        <p14:creationId xmlns:p14="http://schemas.microsoft.com/office/powerpoint/2010/main" val="3001332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90487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fr-FR" b="1" dirty="0"/>
              <a:t>	Plan de la présentation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96900" y="2419349"/>
            <a:ext cx="6737350" cy="3848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/>
              <a:t>1- Le contexte de révision du PSE</a:t>
            </a:r>
          </a:p>
          <a:p>
            <a:pPr marL="0" indent="0">
              <a:buNone/>
            </a:pPr>
            <a:r>
              <a:rPr lang="fr-FR" sz="3600" dirty="0"/>
              <a:t>2- Le processus de révision du PSE</a:t>
            </a:r>
          </a:p>
          <a:p>
            <a:pPr marL="0" indent="0">
              <a:buNone/>
            </a:pPr>
            <a:r>
              <a:rPr lang="fr-FR" sz="3600" dirty="0"/>
              <a:t>3- Les documents de référence</a:t>
            </a:r>
          </a:p>
          <a:p>
            <a:pPr marL="0" indent="0">
              <a:buNone/>
            </a:pPr>
            <a:r>
              <a:rPr lang="fr-FR" sz="3600" dirty="0"/>
              <a:t>4- Les cinq chapitres du PSE</a:t>
            </a:r>
          </a:p>
          <a:p>
            <a:pPr marL="0" indent="0">
              <a:buNone/>
            </a:pPr>
            <a:endParaRPr lang="fr-FR" sz="36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</a:t>
            </a:fld>
            <a:endParaRPr lang="fr-FR"/>
          </a:p>
        </p:txBody>
      </p:sp>
      <p:pic>
        <p:nvPicPr>
          <p:cNvPr id="6" name="Image 5" descr="G:\page de garde PS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650" y="365125"/>
            <a:ext cx="4324350" cy="6173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329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0204"/>
            <a:ext cx="12191999" cy="72511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fr-FR" sz="4800" dirty="0"/>
              <a:t>	</a:t>
            </a:r>
            <a:r>
              <a:rPr lang="fr-FR" b="1" dirty="0"/>
              <a:t>1- Le contexte</a:t>
            </a:r>
            <a:r>
              <a:rPr lang="fr-FR" sz="3200" b="1" dirty="0"/>
              <a:t> </a:t>
            </a:r>
            <a:r>
              <a:rPr lang="fr-FR" b="1" dirty="0"/>
              <a:t>de révision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4000" y="1384300"/>
            <a:ext cx="11633201" cy="54737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Mars 2010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: Adoption du premier PSE avec pour objectifs</a:t>
            </a:r>
          </a:p>
          <a:p>
            <a:pPr lvl="1"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L’atteinte de la scolarisation primaire universelle (SPU)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en 2020 </a:t>
            </a:r>
          </a:p>
          <a:p>
            <a:pPr lvl="1"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et la correction de la pyramide éducative.</a:t>
            </a:r>
          </a:p>
          <a:p>
            <a:pPr marL="0" indent="0">
              <a:lnSpc>
                <a:spcPct val="120000"/>
              </a:lnSpc>
              <a:buNone/>
            </a:pPr>
            <a:endParaRPr lang="fr-FR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Décembre 2013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: 1</a:t>
            </a:r>
            <a:r>
              <a:rPr lang="fr-F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révision du PSE pour 2014-2025 avec l’accent sur</a:t>
            </a:r>
          </a:p>
          <a:p>
            <a:pPr lvl="1">
              <a:lnSpc>
                <a:spcPct val="120000"/>
              </a:lnSpc>
            </a:pPr>
            <a:r>
              <a:rPr lang="fr-FR" sz="2800" b="1" dirty="0"/>
              <a:t>Le développement d’un enseignement fondamental de qualité</a:t>
            </a:r>
            <a:r>
              <a:rPr lang="fr-FR" b="1" dirty="0"/>
              <a:t>, </a:t>
            </a:r>
            <a:r>
              <a:rPr lang="fr-FR" dirty="0"/>
              <a:t>prenant en compte le primaire et le premier cycle du secondaire avec pour but la SPU </a:t>
            </a:r>
            <a:r>
              <a:rPr lang="fr-FR" b="1" dirty="0"/>
              <a:t>en 2022 </a:t>
            </a:r>
            <a:r>
              <a:rPr lang="fr-FR" dirty="0"/>
              <a:t>;</a:t>
            </a:r>
          </a:p>
          <a:p>
            <a:pPr lvl="1">
              <a:lnSpc>
                <a:spcPct val="120000"/>
              </a:lnSpc>
            </a:pPr>
            <a:r>
              <a:rPr lang="fr-FR" sz="2800" b="1" dirty="0"/>
              <a:t>L’extension de la couverture du préscolaire</a:t>
            </a:r>
            <a:r>
              <a:rPr lang="fr-FR" dirty="0"/>
              <a:t>, notamment le développement de l’expérience communautaire au bénéfice des populations rurales et des milieux les plus défavorisés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356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0204"/>
            <a:ext cx="12191999" cy="72511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fr-FR" sz="4800" dirty="0"/>
              <a:t>	</a:t>
            </a:r>
            <a:r>
              <a:rPr lang="fr-FR" b="1" dirty="0"/>
              <a:t>1- Le contexte</a:t>
            </a:r>
            <a:r>
              <a:rPr lang="fr-FR" sz="3200" b="1" dirty="0"/>
              <a:t> </a:t>
            </a:r>
            <a:r>
              <a:rPr lang="fr-FR" b="1" dirty="0"/>
              <a:t>de révision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755" y="1891323"/>
            <a:ext cx="11605846" cy="4179277"/>
          </a:xfrm>
        </p:spPr>
        <p:txBody>
          <a:bodyPr>
            <a:noAutofit/>
          </a:bodyPr>
          <a:lstStyle/>
          <a:p>
            <a:pPr lvl="1">
              <a:lnSpc>
                <a:spcPct val="120000"/>
              </a:lnSpc>
            </a:pPr>
            <a:r>
              <a:rPr lang="fr-FR" sz="2800" b="1" dirty="0"/>
              <a:t>Le développement de l’enseignement secondaire général second cycle ;</a:t>
            </a:r>
          </a:p>
          <a:p>
            <a:pPr lvl="1">
              <a:lnSpc>
                <a:spcPct val="120000"/>
              </a:lnSpc>
            </a:pPr>
            <a:r>
              <a:rPr lang="fr-FR" sz="2800" b="1" dirty="0"/>
              <a:t>Le développement de l’enseignement technique et professionnel ;</a:t>
            </a:r>
          </a:p>
          <a:p>
            <a:pPr lvl="1">
              <a:lnSpc>
                <a:spcPct val="120000"/>
              </a:lnSpc>
            </a:pPr>
            <a:r>
              <a:rPr lang="fr-FR" sz="2800" b="1" dirty="0"/>
              <a:t>Le développement de l’enseignement supérieur et de la recherche </a:t>
            </a:r>
            <a:r>
              <a:rPr lang="fr-FR" sz="2800" dirty="0"/>
              <a:t>en lien avec les besoins du marché de l’emploi dans notre pays ;</a:t>
            </a:r>
          </a:p>
          <a:p>
            <a:pPr lvl="1">
              <a:lnSpc>
                <a:spcPct val="120000"/>
              </a:lnSpc>
            </a:pPr>
            <a:r>
              <a:rPr lang="fr-FR" sz="2800" b="1" dirty="0"/>
              <a:t>La diminution du taux d’analphabétisme. 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092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2400"/>
            <a:ext cx="12192000" cy="787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fr-FR" sz="4800" dirty="0"/>
              <a:t>	</a:t>
            </a:r>
            <a:r>
              <a:rPr lang="fr-FR" b="1" dirty="0"/>
              <a:t>1- Le contexte de révision du PSE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515035"/>
              </p:ext>
            </p:extLst>
          </p:nvPr>
        </p:nvGraphicFramePr>
        <p:xfrm>
          <a:off x="190500" y="1028699"/>
          <a:ext cx="11747499" cy="5692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5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58800" y="1854200"/>
            <a:ext cx="118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Au plan interne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50900" y="3378141"/>
            <a:ext cx="128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Au plan national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46075" y="5105282"/>
            <a:ext cx="1606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Au plan continental et international</a:t>
            </a:r>
          </a:p>
        </p:txBody>
      </p:sp>
    </p:spTree>
    <p:extLst>
      <p:ext uri="{BB962C8B-B14F-4D97-AF65-F5344CB8AC3E}">
        <p14:creationId xmlns:p14="http://schemas.microsoft.com/office/powerpoint/2010/main" val="2397479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00200" y="2413000"/>
            <a:ext cx="10172700" cy="376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b="1" dirty="0">
                <a:solidFill>
                  <a:srgbClr val="7030A0"/>
                </a:solidFill>
              </a:rPr>
              <a:t>Décision</a:t>
            </a:r>
            <a:r>
              <a:rPr lang="fr-FR" sz="3600" dirty="0"/>
              <a:t> lors de la revue sectorielle de </a:t>
            </a:r>
            <a:r>
              <a:rPr lang="fr-FR" sz="3600" b="1" dirty="0"/>
              <a:t>mai 2017 </a:t>
            </a:r>
          </a:p>
          <a:p>
            <a:pPr marL="0" indent="0">
              <a:buNone/>
            </a:pPr>
            <a:r>
              <a:rPr lang="fr-FR" sz="3600" dirty="0"/>
              <a:t>de mettre à jour les documents de stratégies et de planification sectorielles.</a:t>
            </a:r>
          </a:p>
        </p:txBody>
      </p:sp>
      <p:sp>
        <p:nvSpPr>
          <p:cNvPr id="6" name="Flèche droite rayée 5"/>
          <p:cNvSpPr/>
          <p:nvPr/>
        </p:nvSpPr>
        <p:spPr>
          <a:xfrm>
            <a:off x="0" y="2413000"/>
            <a:ext cx="1600200" cy="1270000"/>
          </a:xfrm>
          <a:prstGeom prst="strip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253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92175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fr-FR" sz="4800" b="1" dirty="0"/>
              <a:t>	2- Le processus de révision du PSE</a:t>
            </a:r>
          </a:p>
        </p:txBody>
      </p:sp>
      <p:graphicFrame>
        <p:nvGraphicFramePr>
          <p:cNvPr id="10" name="Espace réservé du contenu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613789"/>
              </p:ext>
            </p:extLst>
          </p:nvPr>
        </p:nvGraphicFramePr>
        <p:xfrm>
          <a:off x="6972300" y="1422400"/>
          <a:ext cx="5100539" cy="5281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7</a:t>
            </a:fld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265384" y="2082800"/>
            <a:ext cx="6190334" cy="4638674"/>
          </a:xfrm>
          <a:prstGeom prst="ellipse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plus de 20 ateliers</a:t>
            </a:r>
            <a:r>
              <a:rPr lang="fr-FR" sz="2800" dirty="0"/>
              <a:t> de consultation, de travaux techniques et de validation entre septembre 2018 et juillet 2020, avec la participation des acteurs, partenaires, bénéficiaires, experts de l’IIPE-UNESCO-Pôle de Dakar, consultant</a:t>
            </a:r>
          </a:p>
        </p:txBody>
      </p:sp>
      <p:sp>
        <p:nvSpPr>
          <p:cNvPr id="9" name="Flèche droite 8"/>
          <p:cNvSpPr/>
          <p:nvPr/>
        </p:nvSpPr>
        <p:spPr>
          <a:xfrm rot="20061541">
            <a:off x="5507003" y="1747081"/>
            <a:ext cx="1399030" cy="105583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265384" y="1290935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7030A0"/>
                </a:solidFill>
              </a:rPr>
              <a:t>Un processus participatif et inclusif</a:t>
            </a:r>
          </a:p>
        </p:txBody>
      </p:sp>
    </p:spTree>
    <p:extLst>
      <p:ext uri="{BB962C8B-B14F-4D97-AF65-F5344CB8AC3E}">
        <p14:creationId xmlns:p14="http://schemas.microsoft.com/office/powerpoint/2010/main" val="735541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52425"/>
            <a:ext cx="12192000" cy="879475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fr-FR" sz="4800" b="1" dirty="0"/>
              <a:t>	3- Les documents de référence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5100" y="1574800"/>
            <a:ext cx="12026900" cy="4826000"/>
          </a:xfrm>
        </p:spPr>
        <p:txBody>
          <a:bodyPr>
            <a:normAutofit/>
          </a:bodyPr>
          <a:lstStyle/>
          <a:p>
            <a:r>
              <a:rPr lang="fr-FR" dirty="0"/>
              <a:t>Le Programme de développement durable à l’horizon 2030 et ses 17 objectifs de développement durable (ODD)</a:t>
            </a:r>
          </a:p>
          <a:p>
            <a:r>
              <a:rPr lang="fr-FR" dirty="0"/>
              <a:t>L’ensemble des documents produits dans le secteur de l’éducation et secteurs connexes après 2016 : </a:t>
            </a:r>
          </a:p>
          <a:p>
            <a:pPr marL="622300" lvl="0" indent="127000">
              <a:buFont typeface="Wingdings" panose="05000000000000000000" pitchFamily="2" charset="2"/>
              <a:buChar char="ü"/>
            </a:pPr>
            <a:r>
              <a:rPr lang="fr-FR" dirty="0"/>
              <a:t> Le Plan National de Développement (PND 2018 – 2022) ; </a:t>
            </a:r>
          </a:p>
          <a:p>
            <a:pPr marL="622300" lvl="0" indent="127000">
              <a:buFont typeface="Wingdings" panose="05000000000000000000" pitchFamily="2" charset="2"/>
              <a:buChar char="ü"/>
            </a:pPr>
            <a:r>
              <a:rPr lang="fr-FR" dirty="0"/>
              <a:t> La Loi d’orientation de l’enseignement supérieur et de la recherche (2017) ; </a:t>
            </a:r>
          </a:p>
          <a:p>
            <a:pPr marL="622300" lvl="0" indent="127000">
              <a:buFont typeface="Wingdings" panose="05000000000000000000" pitchFamily="2" charset="2"/>
              <a:buChar char="ü"/>
            </a:pPr>
            <a:r>
              <a:rPr lang="fr-FR" dirty="0"/>
              <a:t> Le RESEN élaboré dans le cadre de la révision du PSE (2018) ;  </a:t>
            </a:r>
          </a:p>
          <a:p>
            <a:pPr marL="622300" lvl="0" indent="127000">
              <a:buFont typeface="Wingdings" panose="05000000000000000000" pitchFamily="2" charset="2"/>
              <a:buChar char="ü"/>
            </a:pPr>
            <a:r>
              <a:rPr lang="fr-FR" dirty="0"/>
              <a:t> La Politique nationale sur les enseignants (2018) ; </a:t>
            </a:r>
          </a:p>
          <a:p>
            <a:pPr marL="622300" lvl="0" indent="127000">
              <a:buFont typeface="Wingdings" panose="05000000000000000000" pitchFamily="2" charset="2"/>
              <a:buChar char="ü"/>
            </a:pPr>
            <a:r>
              <a:rPr lang="fr-FR" dirty="0"/>
              <a:t> La Stratégie nationale de l’enseignement technique et de la formation professionnelle (2018) ;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3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79401"/>
            <a:ext cx="12192000" cy="7619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fr-FR" sz="4800" b="1" dirty="0"/>
              <a:t>	3- Les documents de référence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500" y="1689100"/>
            <a:ext cx="11112500" cy="4762499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Le Schéma directeur de la formation professionnelle duale au Togo (2018) 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Le Cadre stratégique de lutte contre les violences basées sur le genre en milieu scolaire (2018) 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La Politique nationale de développement de la petite enfance (2018) 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Le Modèle national d’éducation inclusive au Togo (2019) 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Le recensement général de la population et de l’habitat (RGPH 4) réalisé en 2010 et les projections réalisées par l’INSEED 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dirty="0"/>
              <a:t> Les différentes données macro-économiques du Ministère de l’Economie et des Finances.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006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192000" cy="968375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fr-FR" sz="4800" b="1" dirty="0"/>
              <a:t>	4- Les cinq chapitres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2100" y="1498600"/>
            <a:ext cx="11645900" cy="49657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fr-FR" sz="3600" b="1" dirty="0"/>
          </a:p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3600" b="1" dirty="0"/>
              <a:t>Chapitre 1</a:t>
            </a:r>
            <a:r>
              <a:rPr lang="fr-FR" sz="3600" dirty="0"/>
              <a:t>: </a:t>
            </a:r>
            <a:r>
              <a:rPr lang="fr-FR" sz="3200" dirty="0"/>
              <a:t>Eléments de diagnostic du système éducatif</a:t>
            </a:r>
            <a:endParaRPr lang="fr-FR" sz="3600" dirty="0"/>
          </a:p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3600" b="1" dirty="0"/>
              <a:t>Chapitre 2</a:t>
            </a:r>
            <a:r>
              <a:rPr lang="fr-FR" sz="3600" dirty="0"/>
              <a:t>: </a:t>
            </a:r>
            <a:r>
              <a:rPr lang="fr-FR" sz="3200" dirty="0"/>
              <a:t>Les grands axes et les principes directeurs de la politique </a:t>
            </a:r>
          </a:p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3600" b="1" dirty="0"/>
              <a:t>Chapitre 3</a:t>
            </a:r>
            <a:r>
              <a:rPr lang="fr-FR" sz="3600" dirty="0"/>
              <a:t>: </a:t>
            </a:r>
            <a:r>
              <a:rPr lang="fr-FR" sz="3200" dirty="0"/>
              <a:t>Les stratégies sectorielles</a:t>
            </a:r>
          </a:p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3600" b="1" dirty="0"/>
              <a:t>Chapitre 4</a:t>
            </a:r>
            <a:r>
              <a:rPr lang="fr-FR" sz="3600" dirty="0"/>
              <a:t>: </a:t>
            </a:r>
            <a:r>
              <a:rPr lang="fr-FR" sz="3200" dirty="0"/>
              <a:t>Coûts et financements </a:t>
            </a:r>
          </a:p>
          <a:p>
            <a:pPr marL="660400" lvl="1" indent="-5715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3600" b="1" dirty="0"/>
              <a:t>Chapitre 5</a:t>
            </a:r>
            <a:r>
              <a:rPr lang="fr-FR" sz="3600" dirty="0"/>
              <a:t>: </a:t>
            </a:r>
            <a:r>
              <a:rPr lang="fr-FR" sz="3200" dirty="0"/>
              <a:t>Pilotage, Coordination et Suivi-évaluation du PSE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697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3062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Chapitre 1</a:t>
            </a:r>
            <a:r>
              <a:rPr lang="fr-FR" sz="48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200" b="1" cap="all" dirty="0">
                <a:solidFill>
                  <a:schemeClr val="accent5">
                    <a:lumMod val="75000"/>
                  </a:schemeClr>
                </a:solidFill>
              </a:rPr>
              <a:t>ELEMENTS DE DIAGNOSTIC DU SYSTEME EDUCATIF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5754"/>
            <a:ext cx="11377246" cy="538089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3200" dirty="0"/>
              <a:t>Ce chapitre est une synthèse des résultats du RESEN qui sont :</a:t>
            </a:r>
          </a:p>
          <a:p>
            <a:pPr marL="0" indent="0">
              <a:lnSpc>
                <a:spcPct val="100000"/>
              </a:lnSpc>
              <a:buNone/>
            </a:pPr>
            <a:endParaRPr lang="fr-FR" sz="1100" dirty="0"/>
          </a:p>
          <a:p>
            <a:pPr marL="514350" indent="-514350">
              <a:buAutoNum type="arabicPeriod"/>
              <a:tabLst>
                <a:tab pos="266700" algn="l"/>
              </a:tabLst>
            </a:pPr>
            <a:r>
              <a:rPr lang="fr-FR" sz="3200" b="1" dirty="0">
                <a:solidFill>
                  <a:srgbClr val="7030A0"/>
                </a:solidFill>
              </a:rPr>
              <a:t>une forte pression démographique </a:t>
            </a:r>
            <a:r>
              <a:rPr lang="fr-FR" sz="3200" dirty="0"/>
              <a:t>qui pèse sur le système éducatif, due à une forte croissance démographique estimée à plus de </a:t>
            </a:r>
            <a:r>
              <a:rPr lang="fr-FR" sz="3200" b="1" dirty="0">
                <a:solidFill>
                  <a:srgbClr val="FF0000"/>
                </a:solidFill>
              </a:rPr>
              <a:t>2,68% </a:t>
            </a:r>
            <a:r>
              <a:rPr lang="fr-FR" sz="3200" dirty="0"/>
              <a:t>en moyenne par an ;</a:t>
            </a:r>
          </a:p>
          <a:p>
            <a:pPr marL="0" indent="0">
              <a:buNone/>
            </a:pPr>
            <a:endParaRPr lang="fr-FR" sz="1050" b="1" dirty="0"/>
          </a:p>
          <a:p>
            <a:pPr marL="0" indent="0">
              <a:buNone/>
            </a:pPr>
            <a:r>
              <a:rPr lang="fr-FR" sz="3200" b="1" dirty="0"/>
              <a:t>2</a:t>
            </a:r>
            <a:r>
              <a:rPr lang="fr-FR" sz="3200" dirty="0"/>
              <a:t>. </a:t>
            </a:r>
            <a:r>
              <a:rPr lang="fr-FR" sz="3200" b="1" dirty="0">
                <a:solidFill>
                  <a:srgbClr val="7030A0"/>
                </a:solidFill>
              </a:rPr>
              <a:t>une situation macroéconomique favorable </a:t>
            </a:r>
            <a:r>
              <a:rPr lang="fr-FR" sz="3200" dirty="0"/>
              <a:t>liée à une augmentation considérable des recettes internes de </a:t>
            </a:r>
            <a:r>
              <a:rPr lang="fr-FR" dirty="0"/>
              <a:t>l’Etat </a:t>
            </a:r>
            <a:r>
              <a:rPr lang="fr-FR" sz="3200" dirty="0"/>
              <a:t>qui sont passées de 15,9% du PIB en 2009 à </a:t>
            </a:r>
            <a:r>
              <a:rPr lang="fr-FR" sz="3200" dirty="0">
                <a:solidFill>
                  <a:srgbClr val="FF0000"/>
                </a:solidFill>
              </a:rPr>
              <a:t>22,4% du PIB en 2017 </a:t>
            </a:r>
            <a:r>
              <a:rPr lang="fr-FR" dirty="0"/>
              <a:t>;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3200" b="1" dirty="0"/>
              <a:t>3. </a:t>
            </a:r>
            <a:r>
              <a:rPr lang="fr-FR" sz="3200" b="1" dirty="0">
                <a:solidFill>
                  <a:srgbClr val="7030A0"/>
                </a:solidFill>
              </a:rPr>
              <a:t>une priorité budgétaire pour l’éducation </a:t>
            </a:r>
            <a:r>
              <a:rPr lang="fr-FR" sz="3200" dirty="0"/>
              <a:t>affichée sur les dépenses courantes avec </a:t>
            </a:r>
            <a:r>
              <a:rPr lang="fr-FR" sz="3200" b="1" dirty="0">
                <a:solidFill>
                  <a:srgbClr val="C00000"/>
                </a:solidFill>
              </a:rPr>
              <a:t>19% </a:t>
            </a:r>
            <a:r>
              <a:rPr lang="fr-FR" sz="3200" dirty="0"/>
              <a:t>du budget total de l’Etat alloué à l’éducation ;</a:t>
            </a: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z="1600" smtClean="0"/>
              <a:t>11</a:t>
            </a:fld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77748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3062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Chapitre 1</a:t>
            </a:r>
            <a:r>
              <a:rPr lang="fr-FR" sz="48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200" b="1" cap="all" dirty="0">
                <a:solidFill>
                  <a:schemeClr val="accent5">
                    <a:lumMod val="75000"/>
                  </a:schemeClr>
                </a:solidFill>
              </a:rPr>
              <a:t>ELEMENTS DE DIAGNOSTIC DU SYSTEME EDUCATIF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08100"/>
            <a:ext cx="11377246" cy="5268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/>
              <a:t>4</a:t>
            </a:r>
            <a:r>
              <a:rPr lang="fr-FR" sz="3200" dirty="0"/>
              <a:t>. </a:t>
            </a:r>
            <a:r>
              <a:rPr lang="fr-FR" sz="3200" b="1" dirty="0">
                <a:solidFill>
                  <a:srgbClr val="7030A0"/>
                </a:solidFill>
              </a:rPr>
              <a:t>une répartition des dépenses courantes en éducation orientée vers l’enseignement de base</a:t>
            </a:r>
            <a:r>
              <a:rPr lang="fr-FR" sz="3200" dirty="0"/>
              <a:t> : </a:t>
            </a:r>
            <a:r>
              <a:rPr lang="fr-FR" sz="3200" b="1" dirty="0">
                <a:solidFill>
                  <a:srgbClr val="C00000"/>
                </a:solidFill>
              </a:rPr>
              <a:t>46,3%</a:t>
            </a:r>
            <a:r>
              <a:rPr lang="fr-FR" sz="3200" dirty="0"/>
              <a:t> des dépenses d’éducation sont consacrées à l’enseignement primaire ;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3200" b="1" dirty="0"/>
              <a:t>5</a:t>
            </a:r>
            <a:r>
              <a:rPr lang="fr-FR" sz="3200" dirty="0"/>
              <a:t>. </a:t>
            </a:r>
            <a:r>
              <a:rPr lang="fr-FR" sz="3200" b="1" dirty="0">
                <a:solidFill>
                  <a:srgbClr val="7030A0"/>
                </a:solidFill>
              </a:rPr>
              <a:t>une substitution progressive des enseignants </a:t>
            </a:r>
            <a:r>
              <a:rPr lang="fr-FR" sz="3200" dirty="0"/>
              <a:t>fonctionnaires par des </a:t>
            </a:r>
            <a:r>
              <a:rPr lang="fr-FR" sz="3200" b="1" dirty="0"/>
              <a:t>volontaires </a:t>
            </a:r>
            <a:r>
              <a:rPr lang="fr-FR" sz="3200" dirty="0"/>
              <a:t>qui représentent </a:t>
            </a:r>
            <a:r>
              <a:rPr lang="fr-FR" sz="3200" b="1" dirty="0">
                <a:solidFill>
                  <a:srgbClr val="C00000"/>
                </a:solidFill>
              </a:rPr>
              <a:t>27% </a:t>
            </a:r>
            <a:r>
              <a:rPr lang="fr-FR" sz="3200" dirty="0"/>
              <a:t>du corps enseignant au primaire public, </a:t>
            </a:r>
            <a:r>
              <a:rPr lang="fr-FR" sz="3200" b="1" dirty="0">
                <a:solidFill>
                  <a:srgbClr val="C00000"/>
                </a:solidFill>
              </a:rPr>
              <a:t>41% </a:t>
            </a:r>
            <a:r>
              <a:rPr lang="fr-FR" sz="3200" dirty="0"/>
              <a:t>au collège </a:t>
            </a:r>
            <a:r>
              <a:rPr lang="fr-FR" sz="3200" b="1" dirty="0">
                <a:solidFill>
                  <a:srgbClr val="C00000"/>
                </a:solidFill>
              </a:rPr>
              <a:t>et 25% </a:t>
            </a:r>
            <a:r>
              <a:rPr lang="fr-FR" sz="3200" dirty="0"/>
              <a:t>au lycée ;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r>
              <a:rPr lang="fr-FR" sz="3200" b="1" dirty="0"/>
              <a:t>6. </a:t>
            </a:r>
            <a:r>
              <a:rPr lang="fr-FR" sz="3200" b="1" dirty="0">
                <a:solidFill>
                  <a:srgbClr val="7030A0"/>
                </a:solidFill>
              </a:rPr>
              <a:t>une contribution financière importante des familles </a:t>
            </a:r>
            <a:r>
              <a:rPr lang="fr-FR" sz="3200" dirty="0"/>
              <a:t>pour l’éducation de leurs enfants à hauteur d’environ </a:t>
            </a:r>
            <a:r>
              <a:rPr lang="fr-FR" sz="3200" b="1" dirty="0">
                <a:solidFill>
                  <a:srgbClr val="FF0000"/>
                </a:solidFill>
              </a:rPr>
              <a:t>56%</a:t>
            </a:r>
            <a:r>
              <a:rPr lang="fr-FR" sz="3200" b="1" dirty="0"/>
              <a:t> </a:t>
            </a:r>
            <a:r>
              <a:rPr lang="fr-FR" sz="3200" dirty="0"/>
              <a:t>des dépenses totales d’éducation par enfant ;</a:t>
            </a:r>
          </a:p>
          <a:p>
            <a:pPr marL="0" indent="0">
              <a:lnSpc>
                <a:spcPct val="100000"/>
              </a:lnSpc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057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3062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Chapitre 1</a:t>
            </a:r>
            <a:r>
              <a:rPr lang="fr-FR" sz="48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200" b="1" cap="all" dirty="0">
                <a:solidFill>
                  <a:schemeClr val="accent5">
                    <a:lumMod val="75000"/>
                  </a:schemeClr>
                </a:solidFill>
              </a:rPr>
              <a:t>ELEMENTS DE DIAGNOSTIC DU SYSTEME EDUCATIF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2400"/>
            <a:ext cx="11377246" cy="5154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200" b="1" dirty="0"/>
              <a:t>7</a:t>
            </a:r>
            <a:r>
              <a:rPr lang="fr-FR" sz="3200" dirty="0">
                <a:solidFill>
                  <a:srgbClr val="7030A0"/>
                </a:solidFill>
              </a:rPr>
              <a:t>. </a:t>
            </a:r>
            <a:r>
              <a:rPr lang="fr-FR" sz="3200" b="1" dirty="0">
                <a:solidFill>
                  <a:srgbClr val="7030A0"/>
                </a:solidFill>
              </a:rPr>
              <a:t>une amélioration dans les scolarisations </a:t>
            </a:r>
            <a:r>
              <a:rPr lang="fr-FR" sz="3200" dirty="0"/>
              <a:t>entre 2011 et 2018 avec l’amélioration des indicateurs d’accès, de maintien et d’achèvement à tous les niveaux ; mais </a:t>
            </a:r>
            <a:r>
              <a:rPr lang="fr-FR" sz="3200" b="1" dirty="0">
                <a:solidFill>
                  <a:srgbClr val="FF0000"/>
                </a:solidFill>
              </a:rPr>
              <a:t>4,3%</a:t>
            </a:r>
            <a:r>
              <a:rPr lang="fr-FR" sz="3200" dirty="0"/>
              <a:t> d’enfants en âge scolarisable ne vont toujours pas à l’école ;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r>
              <a:rPr lang="fr-FR" sz="3200" b="1" dirty="0"/>
              <a:t>8</a:t>
            </a:r>
            <a:r>
              <a:rPr lang="fr-FR" sz="3200" dirty="0"/>
              <a:t>. </a:t>
            </a:r>
            <a:r>
              <a:rPr lang="fr-FR" sz="3200" b="1" dirty="0">
                <a:solidFill>
                  <a:srgbClr val="7030A0"/>
                </a:solidFill>
              </a:rPr>
              <a:t>des disparités importantes persistent </a:t>
            </a:r>
            <a:r>
              <a:rPr lang="fr-FR" sz="3200" dirty="0"/>
              <a:t>dans les scolarisations entre zones rurales et zones urbaines, entre familles pauvres et familles riches, entre filles et garçons ;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r>
              <a:rPr lang="fr-FR" sz="3200" b="1" dirty="0"/>
              <a:t>9</a:t>
            </a:r>
            <a:r>
              <a:rPr lang="fr-FR" sz="3200" dirty="0"/>
              <a:t>. </a:t>
            </a:r>
            <a:r>
              <a:rPr lang="fr-FR" sz="3200" b="1" dirty="0">
                <a:solidFill>
                  <a:srgbClr val="7030A0"/>
                </a:solidFill>
              </a:rPr>
              <a:t>une diminution des redoublements </a:t>
            </a:r>
            <a:r>
              <a:rPr lang="fr-FR" sz="3200" dirty="0"/>
              <a:t>à tous les niveaux, mais la politique des sous-cycles dans l’enseignement primaire n’est pas effective ;</a:t>
            </a:r>
          </a:p>
          <a:p>
            <a:pPr marL="0" indent="0">
              <a:lnSpc>
                <a:spcPct val="100000"/>
              </a:lnSpc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281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3062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Chapitre 1</a:t>
            </a:r>
            <a:r>
              <a:rPr lang="fr-FR" sz="48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200" b="1" cap="all" dirty="0">
                <a:solidFill>
                  <a:schemeClr val="accent5">
                    <a:lumMod val="75000"/>
                  </a:schemeClr>
                </a:solidFill>
              </a:rPr>
              <a:t>ELEMENTS DE DIAGNOSTIC DU SYSTEME EDUCATIF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2400"/>
            <a:ext cx="11377246" cy="5154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200" dirty="0"/>
              <a:t>10. </a:t>
            </a:r>
            <a:r>
              <a:rPr lang="fr-FR" sz="3200" b="1" dirty="0">
                <a:solidFill>
                  <a:srgbClr val="7030A0"/>
                </a:solidFill>
              </a:rPr>
              <a:t>un déficit dans les acquis scolaires </a:t>
            </a:r>
            <a:r>
              <a:rPr lang="fr-FR" sz="3200" dirty="0"/>
              <a:t>dès l’enseignement primaire, </a:t>
            </a:r>
          </a:p>
          <a:p>
            <a:pPr marL="0" indent="0">
              <a:buNone/>
            </a:pPr>
            <a:r>
              <a:rPr lang="fr-FR" sz="3200" dirty="0"/>
              <a:t>car seuls </a:t>
            </a:r>
            <a:r>
              <a:rPr lang="fr-FR" sz="3200" b="1" dirty="0">
                <a:solidFill>
                  <a:srgbClr val="FF0000"/>
                </a:solidFill>
              </a:rPr>
              <a:t>70 % </a:t>
            </a:r>
            <a:r>
              <a:rPr lang="fr-FR" sz="3200" dirty="0"/>
              <a:t>des individus de 22 à 44 ans qui ont achevé un enseignement primaire complet sont durablement alphabétisés ; </a:t>
            </a:r>
          </a:p>
          <a:p>
            <a:pPr marL="0" indent="0">
              <a:buNone/>
            </a:pPr>
            <a:r>
              <a:rPr lang="fr-FR" sz="3200" b="1" dirty="0"/>
              <a:t>3 élèves sur 5 </a:t>
            </a:r>
            <a:r>
              <a:rPr lang="fr-FR" sz="3200" dirty="0"/>
              <a:t>à la fin du primaire n’ont pas le seuil suffisant de compétences en </a:t>
            </a:r>
            <a:r>
              <a:rPr lang="fr-FR" sz="3200" u="sng" dirty="0"/>
              <a:t>français</a:t>
            </a:r>
            <a:r>
              <a:rPr lang="fr-FR" sz="3200" dirty="0"/>
              <a:t> et </a:t>
            </a:r>
            <a:r>
              <a:rPr lang="fr-FR" sz="3200" b="1" dirty="0"/>
              <a:t>1 enfant sur 2 </a:t>
            </a:r>
            <a:r>
              <a:rPr lang="fr-FR" sz="3200" dirty="0"/>
              <a:t>en </a:t>
            </a:r>
            <a:r>
              <a:rPr lang="fr-FR" sz="3200" u="sng" dirty="0"/>
              <a:t>mathématiques</a:t>
            </a:r>
            <a:r>
              <a:rPr lang="fr-FR" sz="3200" dirty="0"/>
              <a:t> ;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3200" b="1" dirty="0"/>
              <a:t>11. </a:t>
            </a:r>
            <a:r>
              <a:rPr lang="fr-FR" sz="3200" b="1" dirty="0">
                <a:solidFill>
                  <a:srgbClr val="7030A0"/>
                </a:solidFill>
              </a:rPr>
              <a:t>une incohérence dans l’allocation des enseignants </a:t>
            </a:r>
            <a:r>
              <a:rPr lang="fr-FR" sz="3200" dirty="0"/>
              <a:t>dans les écoles avec </a:t>
            </a:r>
            <a:r>
              <a:rPr lang="fr-FR" sz="3200" b="1" dirty="0">
                <a:solidFill>
                  <a:srgbClr val="C00000"/>
                </a:solidFill>
              </a:rPr>
              <a:t>41 % </a:t>
            </a:r>
            <a:r>
              <a:rPr lang="fr-FR" sz="3200" dirty="0"/>
              <a:t>d’allocation des enseignants dans les écoles primaires publiques qui ne tient pas compte des effectifs d’élèves mais d’autres facteurs ;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lnSpc>
                <a:spcPct val="100000"/>
              </a:lnSpc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07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83062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Chapitre 1</a:t>
            </a:r>
            <a:r>
              <a:rPr lang="fr-FR" sz="48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200" b="1" cap="all" dirty="0">
                <a:solidFill>
                  <a:schemeClr val="accent5">
                    <a:lumMod val="75000"/>
                  </a:schemeClr>
                </a:solidFill>
              </a:rPr>
              <a:t>ELEMENTS DE DIAGNOSTIC DU SYSTEME EDUCATIF</a:t>
            </a:r>
            <a:endParaRPr lang="fr-FR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2400"/>
            <a:ext cx="11377246" cy="5154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12</a:t>
            </a:r>
            <a:r>
              <a:rPr lang="fr-FR" dirty="0"/>
              <a:t>. </a:t>
            </a:r>
            <a:r>
              <a:rPr lang="fr-FR" b="1" dirty="0">
                <a:solidFill>
                  <a:srgbClr val="7030A0"/>
                </a:solidFill>
              </a:rPr>
              <a:t>une offre éducative qui ne répond pas à la demande économique</a:t>
            </a:r>
            <a:r>
              <a:rPr lang="fr-FR" dirty="0"/>
              <a:t>, car l’orientation du système éducatif privilégie clairement l’enseignement général au détriment de l’enseignement et la formation techniques et professionnels.</a:t>
            </a:r>
          </a:p>
          <a:p>
            <a:pPr indent="19050">
              <a:buFont typeface="Wingdings" panose="05000000000000000000" pitchFamily="2" charset="2"/>
              <a:buChar char="ü"/>
            </a:pPr>
            <a:r>
              <a:rPr lang="fr-FR" dirty="0"/>
              <a:t> Sur l’ensemble des élèves du secondaire, seuls </a:t>
            </a:r>
            <a:r>
              <a:rPr lang="fr-FR" b="1" dirty="0">
                <a:solidFill>
                  <a:srgbClr val="C00000"/>
                </a:solidFill>
              </a:rPr>
              <a:t>6,2% fréquentent l’EFTP </a:t>
            </a:r>
            <a:r>
              <a:rPr lang="fr-FR" dirty="0"/>
              <a:t>;</a:t>
            </a:r>
            <a:endParaRPr lang="fr-FR" sz="900" dirty="0"/>
          </a:p>
          <a:p>
            <a:pPr indent="19050">
              <a:buFont typeface="Wingdings" panose="05000000000000000000" pitchFamily="2" charset="2"/>
              <a:buChar char="ü"/>
            </a:pPr>
            <a:r>
              <a:rPr lang="fr-FR" dirty="0"/>
              <a:t> </a:t>
            </a:r>
            <a:r>
              <a:rPr lang="fr-FR" b="1" dirty="0"/>
              <a:t>0,6% </a:t>
            </a:r>
            <a:r>
              <a:rPr lang="fr-FR" dirty="0"/>
              <a:t>des effectifs de l’EFTP et </a:t>
            </a:r>
            <a:r>
              <a:rPr lang="fr-FR" b="1" dirty="0"/>
              <a:t>2% </a:t>
            </a:r>
            <a:r>
              <a:rPr lang="fr-FR" dirty="0"/>
              <a:t>des effectifs du supérieur sont dans une formation en lien avec l’agriculture, alors que 56% des emplois sont dans ce domaine ;</a:t>
            </a:r>
          </a:p>
          <a:p>
            <a:pPr indent="0">
              <a:buNone/>
            </a:pPr>
            <a:endParaRPr lang="fr-FR" sz="900" dirty="0"/>
          </a:p>
          <a:p>
            <a:pPr indent="19050"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b="1" dirty="0"/>
              <a:t>Filières scientifiques très peu développées </a:t>
            </a:r>
            <a:r>
              <a:rPr lang="fr-FR" dirty="0"/>
              <a:t>au 2</a:t>
            </a:r>
            <a:r>
              <a:rPr lang="fr-FR" baseline="30000" dirty="0"/>
              <a:t>nd</a:t>
            </a:r>
            <a:r>
              <a:rPr lang="fr-FR" dirty="0"/>
              <a:t> cycle du secondaire et de fait à l’enseignement supérieur également (environ </a:t>
            </a:r>
            <a:r>
              <a:rPr lang="fr-FR" b="1" dirty="0">
                <a:solidFill>
                  <a:srgbClr val="C00000"/>
                </a:solidFill>
              </a:rPr>
              <a:t>7% </a:t>
            </a:r>
            <a:r>
              <a:rPr lang="fr-FR" dirty="0"/>
              <a:t>des effectifs du supérieur en 2018) </a:t>
            </a:r>
          </a:p>
          <a:p>
            <a:pPr marL="0" indent="0">
              <a:lnSpc>
                <a:spcPct val="100000"/>
              </a:lnSpc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154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63769"/>
            <a:ext cx="12191999" cy="81573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fr-FR" sz="4000" b="1" dirty="0">
                <a:solidFill>
                  <a:srgbClr val="C00000"/>
                </a:solidFill>
              </a:rPr>
              <a:t>Chapitre 2 </a:t>
            </a:r>
            <a:r>
              <a:rPr lang="fr-FR" sz="40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fr-FR" sz="3100" b="1" dirty="0">
                <a:solidFill>
                  <a:schemeClr val="accent5">
                    <a:lumMod val="75000"/>
                  </a:schemeClr>
                </a:solidFill>
              </a:rPr>
              <a:t>LES GRANDS AXES ET LES PRINCIPES DIRECTEURS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2031" y="1600199"/>
            <a:ext cx="11236569" cy="38100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dirty="0"/>
              <a:t>Il s’est agi d’une </a:t>
            </a:r>
            <a:r>
              <a:rPr lang="fr-FR" b="1" dirty="0">
                <a:solidFill>
                  <a:srgbClr val="7030A0"/>
                </a:solidFill>
              </a:rPr>
              <a:t>révision du PSE 2014-2025</a:t>
            </a:r>
            <a:r>
              <a:rPr lang="fr-FR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dirty="0"/>
              <a:t>Les grands axes et les principes directeurs de la politique éducative n’ont donc pas changé ; </a:t>
            </a:r>
            <a:r>
              <a:rPr lang="fr-FR" b="1" dirty="0"/>
              <a:t>mais les objectifs ont été ajustés au nouveau contexte et aux nouvelles ambitions.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405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63769"/>
            <a:ext cx="12191999" cy="81573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fr-FR" sz="3600" b="1" dirty="0">
                <a:solidFill>
                  <a:schemeClr val="accent5">
                    <a:lumMod val="75000"/>
                  </a:schemeClr>
                </a:solidFill>
              </a:rPr>
              <a:t>	Chapitre 2 : </a:t>
            </a:r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LES GRANDS AXES ET LES PRINCIPES DIRECTEURS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2900" y="1371601"/>
            <a:ext cx="11290300" cy="51673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fr-FR" dirty="0"/>
              <a:t>Pour répondre aux exigences du </a:t>
            </a:r>
            <a:r>
              <a:rPr lang="fr-FR" b="1" dirty="0"/>
              <a:t>PND</a:t>
            </a:r>
            <a:r>
              <a:rPr lang="fr-FR" dirty="0"/>
              <a:t>, le Togo souhaite </a:t>
            </a:r>
            <a:r>
              <a:rPr lang="fr-FR" sz="3200" b="1" dirty="0">
                <a:solidFill>
                  <a:srgbClr val="C00000"/>
                </a:solidFill>
              </a:rPr>
              <a:t>une transformation structurelle du système éducatif national </a:t>
            </a:r>
            <a:r>
              <a:rPr lang="fr-FR" dirty="0"/>
              <a:t>pour fournir à la nation des ressources humaines en quantité et de qualité nécessaires à la transformation de l’économie.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fr-FR" dirty="0"/>
              <a:t>Elle devra passer par : </a:t>
            </a:r>
          </a:p>
          <a:p>
            <a:pPr marL="901700" indent="-215900" algn="just">
              <a:lnSpc>
                <a:spcPct val="100000"/>
              </a:lnSpc>
              <a:buAutoNum type="romanLcParenBoth"/>
            </a:pPr>
            <a:r>
              <a:rPr lang="fr-FR" sz="3200" dirty="0"/>
              <a:t> </a:t>
            </a:r>
            <a:r>
              <a:rPr lang="fr-FR" sz="3200" b="1" dirty="0"/>
              <a:t>l’augmentation de l’offre éducative </a:t>
            </a:r>
            <a:r>
              <a:rPr lang="fr-FR" sz="3200" dirty="0"/>
              <a:t>tout en assurant sa qualité, </a:t>
            </a:r>
          </a:p>
          <a:p>
            <a:pPr marL="901700" indent="-215900" algn="just">
              <a:lnSpc>
                <a:spcPct val="100000"/>
              </a:lnSpc>
              <a:buAutoNum type="romanLcParenBoth"/>
            </a:pPr>
            <a:r>
              <a:rPr lang="fr-FR" sz="3200" dirty="0"/>
              <a:t> </a:t>
            </a:r>
            <a:r>
              <a:rPr lang="fr-FR" sz="3200" b="1" dirty="0"/>
              <a:t>l’inversion de la tendance </a:t>
            </a:r>
            <a:r>
              <a:rPr lang="fr-FR" sz="3200" dirty="0"/>
              <a:t>de prédominance de l’enseignement général au profit de l’ETFP, </a:t>
            </a:r>
            <a:r>
              <a:rPr lang="fr-FR" sz="2400" dirty="0"/>
              <a:t>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585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63769"/>
            <a:ext cx="12191999" cy="81573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fr-FR" sz="3600" b="1" dirty="0">
                <a:solidFill>
                  <a:schemeClr val="accent5">
                    <a:lumMod val="75000"/>
                  </a:schemeClr>
                </a:solidFill>
              </a:rPr>
              <a:t>	Chapitre 2 : </a:t>
            </a:r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LES GRANDS AXES ET LES PRINCIPES DIRECTEURS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00100" y="1587500"/>
            <a:ext cx="10668000" cy="4954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fr-FR" sz="3400" dirty="0"/>
              <a:t>(iii) </a:t>
            </a:r>
            <a:r>
              <a:rPr lang="fr-FR" sz="3400" b="1" dirty="0"/>
              <a:t>le renforcement de la fourniture de services sociaux </a:t>
            </a:r>
            <a:r>
              <a:rPr lang="fr-FR" sz="3400" dirty="0"/>
              <a:t>aux élèves et étudiants,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fr-FR" sz="3400" dirty="0"/>
              <a:t>(iv) </a:t>
            </a:r>
            <a:r>
              <a:rPr lang="fr-FR" sz="3400" b="1" dirty="0"/>
              <a:t>le renforcement du financement </a:t>
            </a:r>
            <a:r>
              <a:rPr lang="fr-FR" sz="3400" dirty="0"/>
              <a:t>des universités, des centres de formation technique et professionnelle et de la recherche universitaire et scientifique et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fr-FR" sz="3400" dirty="0"/>
              <a:t>(v) </a:t>
            </a:r>
            <a:r>
              <a:rPr lang="fr-FR" sz="3400" b="1" dirty="0"/>
              <a:t>le renforcement des infrastructures </a:t>
            </a:r>
            <a:r>
              <a:rPr lang="fr-FR" sz="3400" dirty="0"/>
              <a:t>d’accueil</a:t>
            </a:r>
            <a:r>
              <a:rPr lang="fr-FR" dirty="0"/>
              <a:t>.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313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4270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5">
                    <a:lumMod val="75000"/>
                  </a:schemeClr>
                </a:solidFill>
              </a:rPr>
              <a:t>	Chapitre 2 : </a:t>
            </a:r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LES GRANDS AXES ET LES PRINCIPES DIRECTEURS DU 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6400" y="1354014"/>
            <a:ext cx="11269785" cy="527538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fr-FR" b="1" dirty="0"/>
              <a:t>En lien avec </a:t>
            </a:r>
            <a:r>
              <a:rPr lang="fr-FR" b="1" dirty="0">
                <a:solidFill>
                  <a:srgbClr val="FF0000"/>
                </a:solidFill>
              </a:rPr>
              <a:t>l’ODD4</a:t>
            </a:r>
            <a:r>
              <a:rPr lang="fr-FR" dirty="0">
                <a:solidFill>
                  <a:srgbClr val="FF0000"/>
                </a:solidFill>
              </a:rPr>
              <a:t>, </a:t>
            </a:r>
            <a:r>
              <a:rPr lang="fr-FR" dirty="0"/>
              <a:t>le Togo veut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/>
              <a:t>étendre la couverture du préscolaire </a:t>
            </a:r>
            <a:r>
              <a:rPr lang="fr-FR" dirty="0"/>
              <a:t>sur une base équitable (ODD 4.2)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/>
              <a:t>développer un enseignement fondamental de qualité et inclusif </a:t>
            </a:r>
            <a:r>
              <a:rPr lang="fr-FR" dirty="0"/>
              <a:t>qui prend en compte le primaire et le secondaire 1 avec pour objectif prioritaire l’atteinte de l’ODD 4.1 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/>
              <a:t>développer un enseignement technique et la formation professionnelle inclusifs </a:t>
            </a:r>
            <a:r>
              <a:rPr lang="fr-FR" dirty="0"/>
              <a:t>afin que les filières répondent aux besoins de l’économie togolaise (ODD 4.3 et ODD 4.4)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/>
              <a:t>disposer d’un enseignement supérieur orienté vers le marché du travail </a:t>
            </a:r>
            <a:r>
              <a:rPr lang="fr-FR" dirty="0"/>
              <a:t>(ODD 4.4)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/>
              <a:t>augmenter le nombre d’apprenants dans les centres d’alphabétisation et d’éducation non formelle </a:t>
            </a:r>
            <a:r>
              <a:rPr lang="fr-FR" dirty="0"/>
              <a:t>(ODD 4.6)</a:t>
            </a:r>
          </a:p>
          <a:p>
            <a:pPr marL="0" indent="0" algn="just">
              <a:buNone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006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38126"/>
            <a:ext cx="12192000" cy="76029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5">
                    <a:lumMod val="75000"/>
                  </a:schemeClr>
                </a:solidFill>
              </a:rPr>
              <a:t>Chapitre 2 : </a:t>
            </a:r>
            <a:r>
              <a:rPr lang="fr-FR" sz="3200" b="1" dirty="0">
                <a:solidFill>
                  <a:schemeClr val="accent5">
                    <a:lumMod val="75000"/>
                  </a:schemeClr>
                </a:solidFill>
              </a:rPr>
              <a:t>LES GRANDS AXES ET LES PRINCIPES DIRECTEURS DU PSE</a:t>
            </a:r>
            <a:endParaRPr lang="fr-FR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6400" y="1246554"/>
            <a:ext cx="11322538" cy="508195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dirty="0"/>
              <a:t>E</a:t>
            </a:r>
            <a:r>
              <a:rPr lang="fr-FR" sz="3200" dirty="0"/>
              <a:t>n outre, le Togo veut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3200" b="1" dirty="0">
                <a:solidFill>
                  <a:srgbClr val="7030A0"/>
                </a:solidFill>
              </a:rPr>
              <a:t>réduire les disparités et améliorer l’équité </a:t>
            </a:r>
            <a:r>
              <a:rPr lang="fr-FR" b="1" dirty="0">
                <a:solidFill>
                  <a:srgbClr val="7030A0"/>
                </a:solidFill>
              </a:rPr>
              <a:t>par la mise en œuvre de</a:t>
            </a:r>
            <a:r>
              <a:rPr lang="fr-FR" sz="2400" b="1" dirty="0">
                <a:solidFill>
                  <a:srgbClr val="7030A0"/>
                </a:solidFill>
              </a:rPr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sz="2800" dirty="0"/>
              <a:t>la </a:t>
            </a:r>
            <a:r>
              <a:rPr lang="fr-FR" sz="2800" i="1" dirty="0"/>
              <a:t>politique nationale d’alimentation scolaire</a:t>
            </a:r>
            <a:r>
              <a:rPr lang="fr-FR" sz="2800" dirty="0"/>
              <a:t> 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b="1" i="1" dirty="0"/>
              <a:t> </a:t>
            </a:r>
            <a:r>
              <a:rPr lang="fr-FR" sz="2800" i="1" dirty="0"/>
              <a:t>la politique de santé en milieu scolaire ;</a:t>
            </a:r>
            <a:endParaRPr lang="fr-FR" sz="2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i="1" dirty="0"/>
              <a:t> la stratégie de l’éducation inclusive ;</a:t>
            </a:r>
          </a:p>
          <a:p>
            <a:pPr marL="444500" lvl="1" indent="1778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i="1" dirty="0"/>
              <a:t> les stratégies de réduction des disparités entre les filles et les garçons ; </a:t>
            </a:r>
          </a:p>
          <a:p>
            <a:pPr marL="88900" lvl="1" indent="0">
              <a:lnSpc>
                <a:spcPct val="100000"/>
              </a:lnSpc>
              <a:buNone/>
            </a:pPr>
            <a:r>
              <a:rPr lang="fr-FR" sz="2800" b="1" dirty="0">
                <a:solidFill>
                  <a:srgbClr val="7030A0"/>
                </a:solidFill>
              </a:rPr>
              <a:t>améli</a:t>
            </a:r>
            <a:r>
              <a:rPr lang="fr-FR" sz="3200" b="1" dirty="0">
                <a:solidFill>
                  <a:srgbClr val="7030A0"/>
                </a:solidFill>
              </a:rPr>
              <a:t>orer la qualité de l’enseignement par </a:t>
            </a:r>
          </a:p>
          <a:p>
            <a:pPr marL="546100" lvl="1" indent="-1016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	</a:t>
            </a:r>
            <a:r>
              <a:rPr lang="fr-FR" sz="2800" i="1" dirty="0"/>
              <a:t>les réformes </a:t>
            </a:r>
            <a:r>
              <a:rPr lang="fr-FR" sz="2800" i="1" dirty="0" err="1"/>
              <a:t>curriculaires</a:t>
            </a:r>
            <a:r>
              <a:rPr lang="fr-FR" sz="2800" i="1" dirty="0"/>
              <a:t> </a:t>
            </a:r>
          </a:p>
          <a:p>
            <a:pPr marL="546100" lvl="1" indent="-1016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i="1" dirty="0"/>
              <a:t>	et la mise en œuvre de la politique nationale sur les enseignants.</a:t>
            </a:r>
          </a:p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367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87947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dirty="0"/>
              <a:t>	</a:t>
            </a:r>
            <a:r>
              <a:rPr lang="fr-FR" sz="3200" b="1" dirty="0">
                <a:solidFill>
                  <a:srgbClr val="C00000"/>
                </a:solidFill>
              </a:rPr>
              <a:t>CHAPITRE 3 </a:t>
            </a:r>
            <a:r>
              <a:rPr lang="fr-FR" sz="3200" b="1" dirty="0"/>
              <a:t>: LES STRATEGIES SECTORIELLES</a:t>
            </a:r>
            <a:endParaRPr lang="fr-FR" sz="4000" b="1" dirty="0"/>
          </a:p>
        </p:txBody>
      </p:sp>
      <p:sp>
        <p:nvSpPr>
          <p:cNvPr id="4" name="Titre 1"/>
          <p:cNvSpPr>
            <a:spLocks noGrp="1"/>
          </p:cNvSpPr>
          <p:nvPr>
            <p:ph idx="1"/>
          </p:nvPr>
        </p:nvSpPr>
        <p:spPr>
          <a:xfrm>
            <a:off x="635000" y="1631156"/>
            <a:ext cx="6921500" cy="47251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FR" sz="3200" dirty="0"/>
              <a:t>Les stratégies sectorielles sont élaborées par niveau et type d’enseignement pour l’horizon 2030.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3200" dirty="0"/>
              <a:t>Une </a:t>
            </a:r>
            <a:r>
              <a:rPr lang="fr-FR" sz="3200" b="1" dirty="0">
                <a:solidFill>
                  <a:srgbClr val="7030A0"/>
                </a:solidFill>
              </a:rPr>
              <a:t>matrice stratégique </a:t>
            </a:r>
            <a:r>
              <a:rPr lang="fr-FR" sz="3200" dirty="0"/>
              <a:t>résume les objectifs, les stratégies et les principales actions pour chaque niveau et type d’enseignement.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21</a:t>
            </a:fld>
            <a:endParaRPr lang="fr-FR"/>
          </a:p>
        </p:txBody>
      </p:sp>
      <p:pic>
        <p:nvPicPr>
          <p:cNvPr id="6" name="Image 5" descr="G:\page de garde PS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374650"/>
            <a:ext cx="4127500" cy="595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874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800" b="1" dirty="0"/>
              <a:t>   L’éducation préscolaire 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067062"/>
              </p:ext>
            </p:extLst>
          </p:nvPr>
        </p:nvGraphicFramePr>
        <p:xfrm>
          <a:off x="215900" y="1257300"/>
          <a:ext cx="11557000" cy="524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774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508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800" b="1" dirty="0"/>
              <a:t>   L’enseignement primaire 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005944"/>
              </p:ext>
            </p:extLst>
          </p:nvPr>
        </p:nvGraphicFramePr>
        <p:xfrm>
          <a:off x="215900" y="1041400"/>
          <a:ext cx="11760200" cy="568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495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000" b="1" dirty="0"/>
              <a:t>   L’enseignement secondaire général - Cycles 1 &amp; 2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98798"/>
              </p:ext>
            </p:extLst>
          </p:nvPr>
        </p:nvGraphicFramePr>
        <p:xfrm>
          <a:off x="215900" y="1130300"/>
          <a:ext cx="11760200" cy="5372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750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000" b="1" dirty="0"/>
              <a:t>   L’enseignement technique et la formation professionnelle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747905"/>
              </p:ext>
            </p:extLst>
          </p:nvPr>
        </p:nvGraphicFramePr>
        <p:xfrm>
          <a:off x="215900" y="965200"/>
          <a:ext cx="11760200" cy="553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089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000" b="1" dirty="0"/>
              <a:t>   L’alphabétisation et l’éducation non formelle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296174"/>
              </p:ext>
            </p:extLst>
          </p:nvPr>
        </p:nvGraphicFramePr>
        <p:xfrm>
          <a:off x="215900" y="965200"/>
          <a:ext cx="11760200" cy="553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832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225425"/>
            <a:ext cx="12192000" cy="6127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4000" b="1" dirty="0"/>
              <a:t>   L’enseignement supérieur et la recherche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006508"/>
              </p:ext>
            </p:extLst>
          </p:nvPr>
        </p:nvGraphicFramePr>
        <p:xfrm>
          <a:off x="215900" y="965200"/>
          <a:ext cx="11760200" cy="553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4445000" y="5198239"/>
            <a:ext cx="7531100" cy="13696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300" dirty="0"/>
              <a:t>Renforcer le cadre institutionnel et de gouvernance de la recherche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300" dirty="0"/>
              <a:t>Promouvoir la recherche universitaire et extra-universitaire </a:t>
            </a:r>
          </a:p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892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192000" cy="76517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600" b="1" cap="all" dirty="0">
                <a:solidFill>
                  <a:schemeClr val="accent2">
                    <a:lumMod val="75000"/>
                  </a:schemeClr>
                </a:solidFill>
              </a:rPr>
              <a:t>	Le Cadre logique du PSE </a:t>
            </a: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841245"/>
              </p:ext>
            </p:extLst>
          </p:nvPr>
        </p:nvGraphicFramePr>
        <p:xfrm>
          <a:off x="285750" y="2029480"/>
          <a:ext cx="11620500" cy="3378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1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64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91920" algn="l"/>
                        </a:tabLst>
                      </a:pPr>
                      <a:r>
                        <a:rPr lang="fr-FR" sz="2800" dirty="0">
                          <a:effectLst/>
                        </a:rPr>
                        <a:t>Objectifs 	</a:t>
                      </a:r>
                      <a:endParaRPr lang="fr-FR" sz="32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1391920" algn="l"/>
                        </a:tabLst>
                      </a:pPr>
                      <a:r>
                        <a:rPr lang="fr-FR" sz="2800" dirty="0">
                          <a:effectLst/>
                        </a:rPr>
                        <a:t> </a:t>
                      </a:r>
                      <a:endParaRPr lang="fr-FR" sz="3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Indicateurs</a:t>
                      </a:r>
                      <a:endParaRPr lang="fr-FR" sz="3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Sources</a:t>
                      </a:r>
                      <a:endParaRPr lang="fr-FR" sz="3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Hypothèses/risques</a:t>
                      </a:r>
                      <a:endParaRPr lang="fr-FR" sz="3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63"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657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457200" y="1280180"/>
            <a:ext cx="11449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 chapitre 3 s’achève par le cadre logique du PSE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570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6"/>
            <a:ext cx="12192000" cy="71437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3600" b="1" cap="all" dirty="0">
                <a:solidFill>
                  <a:srgbClr val="C00000"/>
                </a:solidFill>
              </a:rPr>
              <a:t>chapitre 4 </a:t>
            </a:r>
            <a:r>
              <a:rPr lang="fr-FR" sz="3600" b="1" cap="all" dirty="0">
                <a:solidFill>
                  <a:srgbClr val="00B050"/>
                </a:solidFill>
              </a:rPr>
              <a:t>: Coûts et Financements</a:t>
            </a:r>
            <a:endParaRPr lang="fr-FR" sz="36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2708" y="1282700"/>
            <a:ext cx="11095892" cy="51532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Ce chapitre traite des aspects suivants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1. La mobilisation des ressources intérieures pour l’éducation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2.  Les dépenses courantes du PSE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3.  Les dépenses d’investissement du PSE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4.  Le coût total du PSE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5.  Les financements extérieurs prévisionnels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cap="all" dirty="0"/>
              <a:t>6.  La soutenabilité financière du PSE 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464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72682"/>
            <a:ext cx="12192000" cy="66551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3200" b="1" cap="all" dirty="0">
                <a:solidFill>
                  <a:srgbClr val="00B050"/>
                </a:solidFill>
              </a:rPr>
              <a:t>chapitre 4 : Coûts et Financements</a:t>
            </a:r>
            <a:endParaRPr lang="fr-FR" sz="3200" dirty="0">
              <a:solidFill>
                <a:srgbClr val="00B050"/>
              </a:solidFill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943438"/>
              </p:ext>
            </p:extLst>
          </p:nvPr>
        </p:nvGraphicFramePr>
        <p:xfrm>
          <a:off x="292099" y="1856264"/>
          <a:ext cx="11493500" cy="47978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42769">
                  <a:extLst>
                    <a:ext uri="{9D8B030D-6E8A-4147-A177-3AD203B41FA5}">
                      <a16:colId xmlns:a16="http://schemas.microsoft.com/office/drawing/2014/main" val="1965850620"/>
                    </a:ext>
                  </a:extLst>
                </a:gridCol>
                <a:gridCol w="1730474">
                  <a:extLst>
                    <a:ext uri="{9D8B030D-6E8A-4147-A177-3AD203B41FA5}">
                      <a16:colId xmlns:a16="http://schemas.microsoft.com/office/drawing/2014/main" val="2421576002"/>
                    </a:ext>
                  </a:extLst>
                </a:gridCol>
                <a:gridCol w="2247412">
                  <a:extLst>
                    <a:ext uri="{9D8B030D-6E8A-4147-A177-3AD203B41FA5}">
                      <a16:colId xmlns:a16="http://schemas.microsoft.com/office/drawing/2014/main" val="3434353561"/>
                    </a:ext>
                  </a:extLst>
                </a:gridCol>
                <a:gridCol w="1872845">
                  <a:extLst>
                    <a:ext uri="{9D8B030D-6E8A-4147-A177-3AD203B41FA5}">
                      <a16:colId xmlns:a16="http://schemas.microsoft.com/office/drawing/2014/main" val="4067322948"/>
                    </a:ext>
                  </a:extLst>
                </a:gridCol>
              </a:tblGrid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 </a:t>
                      </a:r>
                      <a:r>
                        <a:rPr lang="fr-FR" sz="2800" b="1" dirty="0">
                          <a:effectLst/>
                        </a:rPr>
                        <a:t>Sous-secteur                          Période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2021 - 2023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2024 -2026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2027-2030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44755522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MEPS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469,587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534,584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818,300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45253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 indent="139700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Préscolaire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33,841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48,436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101,069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888049176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 indent="139700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Primaire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243,871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252,748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362,163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717903742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 indent="139700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Secondaire 1er cycle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134,945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152,362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215,464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0775991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 indent="139700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Secondaire 2nd cycle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53,568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77,646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135,027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7246519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 indent="139700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ENI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3,362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3,393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4,576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05384621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METFP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55,66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66,33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109,68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76374319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MESR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136,67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156,641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178,534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62888260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AENF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2,5307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3,507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6,3485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969524"/>
                  </a:ext>
                </a:extLst>
              </a:tr>
              <a:tr h="3746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solidFill>
                            <a:srgbClr val="C00000"/>
                          </a:solidFill>
                          <a:effectLst/>
                        </a:rPr>
                        <a:t>Dépenses totales du secteur </a:t>
                      </a:r>
                      <a:endParaRPr lang="fr-FR" sz="2800" b="1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>
                          <a:solidFill>
                            <a:srgbClr val="C00000"/>
                          </a:solidFill>
                          <a:effectLst/>
                        </a:rPr>
                        <a:t>664,452</a:t>
                      </a:r>
                      <a:endParaRPr lang="fr-FR" sz="3600" b="1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solidFill>
                            <a:srgbClr val="C00000"/>
                          </a:solidFill>
                          <a:effectLst/>
                        </a:rPr>
                        <a:t>761,066</a:t>
                      </a:r>
                      <a:endParaRPr lang="fr-FR" sz="36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solidFill>
                            <a:srgbClr val="C00000"/>
                          </a:solidFill>
                          <a:effectLst/>
                        </a:rPr>
                        <a:t>1112,860</a:t>
                      </a:r>
                      <a:endParaRPr lang="fr-FR" sz="36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96807"/>
                  </a:ext>
                </a:extLst>
              </a:tr>
              <a:tr h="6244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</a:rPr>
                        <a:t>% de l’enseignement fondamental</a:t>
                      </a:r>
                      <a:endParaRPr lang="fr-FR" sz="24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</a:rPr>
                        <a:t>(préscolaire, primaire et 1</a:t>
                      </a:r>
                      <a:r>
                        <a:rPr lang="fr-FR" sz="2000" baseline="30000" dirty="0">
                          <a:effectLst/>
                        </a:rPr>
                        <a:t>er</a:t>
                      </a:r>
                      <a:r>
                        <a:rPr lang="fr-FR" sz="2000" dirty="0">
                          <a:effectLst/>
                        </a:rPr>
                        <a:t> cycle du secondaire) </a:t>
                      </a:r>
                      <a:endParaRPr lang="fr-FR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62,1%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59,6%</a:t>
                      </a:r>
                      <a:endParaRPr lang="fr-FR" sz="36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61,0%</a:t>
                      </a:r>
                      <a:endParaRPr lang="fr-FR" sz="3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82290213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0499" y="977900"/>
            <a:ext cx="115951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Tableau 23 :  Coût total du PSE 2021 – 2030 en milliards de FCFA</a:t>
            </a:r>
          </a:p>
          <a:p>
            <a:r>
              <a:rPr lang="fr-FR" dirty="0"/>
              <a:t>Source : modèle de simulation financière – décembre 2019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472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6"/>
            <a:ext cx="12192000" cy="57467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3200" b="1" cap="all" dirty="0">
                <a:solidFill>
                  <a:srgbClr val="00B050"/>
                </a:solidFill>
              </a:rPr>
              <a:t>chapitre 4 : Coûts et Financements</a:t>
            </a:r>
            <a:endParaRPr lang="fr-FR" sz="36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800100"/>
            <a:ext cx="11638686" cy="563586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b="1" dirty="0">
                <a:solidFill>
                  <a:srgbClr val="C00000"/>
                </a:solidFill>
              </a:rPr>
              <a:t>Tableau n°24 : </a:t>
            </a:r>
            <a:r>
              <a:rPr lang="fr-FR" dirty="0">
                <a:solidFill>
                  <a:srgbClr val="C00000"/>
                </a:solidFill>
              </a:rPr>
              <a:t>Les prévisions de financement des PTF par sous-secteur  </a:t>
            </a:r>
            <a:r>
              <a:rPr lang="fr-FR" sz="2400" dirty="0"/>
              <a:t>pour la période </a:t>
            </a:r>
            <a:r>
              <a:rPr lang="fr-FR" sz="2400" b="1" dirty="0"/>
              <a:t>2021 – 2023 </a:t>
            </a:r>
            <a:r>
              <a:rPr lang="fr-FR" sz="2400" dirty="0"/>
              <a:t>(en FCFA) / Source : collecte auprès des PTF, 2019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19279"/>
              </p:ext>
            </p:extLst>
          </p:nvPr>
        </p:nvGraphicFramePr>
        <p:xfrm>
          <a:off x="419098" y="1854201"/>
          <a:ext cx="11036303" cy="44918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154150">
                  <a:extLst>
                    <a:ext uri="{9D8B030D-6E8A-4147-A177-3AD203B41FA5}">
                      <a16:colId xmlns:a16="http://schemas.microsoft.com/office/drawing/2014/main" val="216059912"/>
                    </a:ext>
                  </a:extLst>
                </a:gridCol>
                <a:gridCol w="2562048">
                  <a:extLst>
                    <a:ext uri="{9D8B030D-6E8A-4147-A177-3AD203B41FA5}">
                      <a16:colId xmlns:a16="http://schemas.microsoft.com/office/drawing/2014/main" val="3857984"/>
                    </a:ext>
                  </a:extLst>
                </a:gridCol>
                <a:gridCol w="2759448">
                  <a:extLst>
                    <a:ext uri="{9D8B030D-6E8A-4147-A177-3AD203B41FA5}">
                      <a16:colId xmlns:a16="http://schemas.microsoft.com/office/drawing/2014/main" val="360178047"/>
                    </a:ext>
                  </a:extLst>
                </a:gridCol>
                <a:gridCol w="2560657">
                  <a:extLst>
                    <a:ext uri="{9D8B030D-6E8A-4147-A177-3AD203B41FA5}">
                      <a16:colId xmlns:a16="http://schemas.microsoft.com/office/drawing/2014/main" val="350341199"/>
                    </a:ext>
                  </a:extLst>
                </a:gridCol>
              </a:tblGrid>
              <a:tr h="12114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Niveau d’enseignement 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Financement PTF Dépenses  courantes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Financement PTF Dépenses d’investissement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Total (FCA)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383732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Préscolaire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522 905 636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5 355 007 548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5 877 913 184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249525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Primaire 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6 146 937 653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17 534 417 293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23 100 541 940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897196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Secondaire 1 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2 047 631 722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9 020 647 856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11 068 279 578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45550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Secondaire 2 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0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0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0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802096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ETFP 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1 184 420 441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20 262 102 760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21 446 523 201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35484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ESR 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0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9 900 000 000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9 900 000 000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029353"/>
                  </a:ext>
                </a:extLst>
              </a:tr>
              <a:tr h="403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</a:rPr>
                        <a:t>AENF</a:t>
                      </a:r>
                      <a:endParaRPr lang="fr-FR" sz="28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432 926 578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860 876 988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1 244 041 890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205798"/>
                  </a:ext>
                </a:extLst>
              </a:tr>
              <a:tr h="4536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800" b="1" dirty="0">
                          <a:solidFill>
                            <a:srgbClr val="C00000"/>
                          </a:solidFill>
                          <a:effectLst/>
                        </a:rPr>
                        <a:t>Total </a:t>
                      </a:r>
                      <a:endParaRPr lang="fr-FR" sz="3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800" b="1">
                          <a:solidFill>
                            <a:srgbClr val="C00000"/>
                          </a:solidFill>
                          <a:effectLst/>
                        </a:rPr>
                        <a:t>10 334 822 030</a:t>
                      </a:r>
                      <a:endParaRPr lang="fr-FR" sz="3200" b="1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800" b="1" dirty="0">
                          <a:solidFill>
                            <a:srgbClr val="C00000"/>
                          </a:solidFill>
                          <a:effectLst/>
                        </a:rPr>
                        <a:t>64 583 052 445</a:t>
                      </a:r>
                      <a:endParaRPr lang="fr-FR" sz="3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800" b="1" dirty="0">
                          <a:solidFill>
                            <a:srgbClr val="C00000"/>
                          </a:solidFill>
                          <a:effectLst/>
                        </a:rPr>
                        <a:t>74 236 284 608</a:t>
                      </a:r>
                      <a:endParaRPr lang="fr-FR" sz="3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45534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570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25426"/>
            <a:ext cx="12192000" cy="57467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6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3200" b="1" cap="all" dirty="0">
                <a:solidFill>
                  <a:srgbClr val="00B050"/>
                </a:solidFill>
              </a:rPr>
              <a:t>chapitre 4 : Coûts et Financements</a:t>
            </a:r>
            <a:endParaRPr lang="fr-FR" sz="36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016000"/>
            <a:ext cx="11772900" cy="56515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b="1" dirty="0">
                <a:solidFill>
                  <a:srgbClr val="C00000"/>
                </a:solidFill>
              </a:rPr>
              <a:t>Tableau n°31 : </a:t>
            </a:r>
            <a:r>
              <a:rPr lang="fr-FR" dirty="0">
                <a:solidFill>
                  <a:srgbClr val="FF0000"/>
                </a:solidFill>
              </a:rPr>
              <a:t>Besoins de financement total </a:t>
            </a:r>
            <a:r>
              <a:rPr lang="fr-FR" dirty="0"/>
              <a:t>après la prise en compte des financements extérieurs (milliards de FCA) </a:t>
            </a:r>
            <a:r>
              <a:rPr lang="fr-FR" sz="2400" dirty="0"/>
              <a:t>Source : MSF, décembre 2019</a:t>
            </a:r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2400" dirty="0"/>
          </a:p>
          <a:p>
            <a:pPr marL="0" indent="0">
              <a:lnSpc>
                <a:spcPct val="100000"/>
              </a:lnSpc>
              <a:buNone/>
            </a:pPr>
            <a:endParaRPr lang="fr-FR" sz="1600" dirty="0"/>
          </a:p>
          <a:p>
            <a:pPr marL="0" indent="0">
              <a:lnSpc>
                <a:spcPct val="100000"/>
              </a:lnSpc>
              <a:buNone/>
            </a:pPr>
            <a:r>
              <a:rPr lang="fr-FR" b="1" dirty="0">
                <a:solidFill>
                  <a:srgbClr val="C00000"/>
                </a:solidFill>
              </a:rPr>
              <a:t>40,839 Mds </a:t>
            </a:r>
            <a:r>
              <a:rPr lang="fr-FR" dirty="0"/>
              <a:t>en dépenses courantes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et </a:t>
            </a:r>
            <a:r>
              <a:rPr lang="fr-FR" b="1" dirty="0">
                <a:solidFill>
                  <a:srgbClr val="C00000"/>
                </a:solidFill>
              </a:rPr>
              <a:t>73,614 Mds </a:t>
            </a:r>
            <a:r>
              <a:rPr lang="fr-FR" dirty="0"/>
              <a:t>en dépenses d’investissement.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962268"/>
              </p:ext>
            </p:extLst>
          </p:nvPr>
        </p:nvGraphicFramePr>
        <p:xfrm>
          <a:off x="444500" y="2119404"/>
          <a:ext cx="11302999" cy="2879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03967">
                  <a:extLst>
                    <a:ext uri="{9D8B030D-6E8A-4147-A177-3AD203B41FA5}">
                      <a16:colId xmlns:a16="http://schemas.microsoft.com/office/drawing/2014/main" val="3185312748"/>
                    </a:ext>
                  </a:extLst>
                </a:gridCol>
                <a:gridCol w="1843708">
                  <a:extLst>
                    <a:ext uri="{9D8B030D-6E8A-4147-A177-3AD203B41FA5}">
                      <a16:colId xmlns:a16="http://schemas.microsoft.com/office/drawing/2014/main" val="3646309046"/>
                    </a:ext>
                  </a:extLst>
                </a:gridCol>
                <a:gridCol w="2255324">
                  <a:extLst>
                    <a:ext uri="{9D8B030D-6E8A-4147-A177-3AD203B41FA5}">
                      <a16:colId xmlns:a16="http://schemas.microsoft.com/office/drawing/2014/main" val="3062867667"/>
                    </a:ext>
                  </a:extLst>
                </a:gridCol>
              </a:tblGrid>
              <a:tr h="3811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Période</a:t>
                      </a:r>
                      <a:r>
                        <a:rPr lang="fr-FR" sz="1800" dirty="0">
                          <a:effectLst/>
                        </a:rPr>
                        <a:t> </a:t>
                      </a:r>
                      <a:endParaRPr lang="fr-FR" sz="20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400" b="1" dirty="0">
                          <a:effectLst/>
                        </a:rPr>
                        <a:t>2021 - 2023</a:t>
                      </a:r>
                      <a:endParaRPr lang="fr-FR" sz="28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996059"/>
                  </a:ext>
                </a:extLst>
              </a:tr>
              <a:tr h="381193">
                <a:tc>
                  <a:txBody>
                    <a:bodyPr/>
                    <a:lstStyle/>
                    <a:p>
                      <a:r>
                        <a:rPr lang="fr-FR" sz="2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Niveau d’enseignement</a:t>
                      </a: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endParaRPr lang="fr-FR" sz="18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% du coût total 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008162788"/>
                  </a:ext>
                </a:extLst>
              </a:tr>
              <a:tr h="42687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Enseignement préscolaire, primaire et secondaire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75,413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66%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70732197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Enseignement technique et formation professionnelle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1,975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2%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98541831"/>
                  </a:ext>
                </a:extLst>
              </a:tr>
              <a:tr h="381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Enseignement supérieur et recherche 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36,383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32%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853361803"/>
                  </a:ext>
                </a:extLst>
              </a:tr>
              <a:tr h="381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Alphabétisation et éducation non formelle</a:t>
                      </a:r>
                      <a:endParaRPr lang="fr-FR" sz="28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0,618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1%</a:t>
                      </a:r>
                      <a:endParaRPr lang="fr-FR" sz="28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91594695"/>
                  </a:ext>
                </a:extLst>
              </a:tr>
              <a:tr h="4788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800" b="1" dirty="0">
                          <a:effectLst/>
                        </a:rPr>
                        <a:t>Total</a:t>
                      </a:r>
                      <a:endParaRPr lang="fr-FR" sz="32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800" b="1" dirty="0">
                          <a:solidFill>
                            <a:srgbClr val="FF0000"/>
                          </a:solidFill>
                          <a:effectLst/>
                        </a:rPr>
                        <a:t>114,388</a:t>
                      </a:r>
                      <a:endParaRPr lang="fr-FR" sz="32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2800" b="1" dirty="0">
                          <a:effectLst/>
                        </a:rPr>
                        <a:t>100%</a:t>
                      </a:r>
                      <a:endParaRPr lang="fr-FR" sz="32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007289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4580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331699" cy="6381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28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2800" b="1" cap="all" dirty="0">
                <a:solidFill>
                  <a:srgbClr val="C00000"/>
                </a:solidFill>
              </a:rPr>
              <a:t>CHAPITRE 5 </a:t>
            </a:r>
            <a:r>
              <a:rPr lang="fr-FR" sz="2800" b="1" cap="all" dirty="0">
                <a:solidFill>
                  <a:srgbClr val="00B050"/>
                </a:solidFill>
              </a:rPr>
              <a:t>: pilotage, COORDINATION et SUIVI - évaluation du PSE</a:t>
            </a:r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615" y="1716443"/>
            <a:ext cx="11429999" cy="4763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cap="all" dirty="0"/>
              <a:t>1.   </a:t>
            </a:r>
            <a:r>
              <a:rPr lang="fr-FR" sz="2400" b="1" cap="all" dirty="0"/>
              <a:t>LA gouvernance et LE pilotage du </a:t>
            </a:r>
            <a:r>
              <a:rPr lang="fr-FR" sz="2400" b="1" cap="all" dirty="0" err="1"/>
              <a:t>pse</a:t>
            </a:r>
            <a:endParaRPr lang="fr-FR" sz="2400" b="1" cap="all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Etat des lieux sur le pilotage du PSE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L’ancrage institutionnel du Secrétariat Technique Permanent (STP) du PSE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Une gouvernance du secteur plus efficace </a:t>
            </a:r>
          </a:p>
          <a:p>
            <a:pPr marL="0" indent="0">
              <a:buNone/>
            </a:pPr>
            <a:r>
              <a:rPr lang="fr-FR" b="1" cap="all" dirty="0"/>
              <a:t>2.  </a:t>
            </a:r>
            <a:r>
              <a:rPr lang="fr-FR" sz="2400" b="1" cap="all" dirty="0"/>
              <a:t>LE dispositif de SUIVI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Le Groupe Local Education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Les Groupes thématiques du GLE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Les revues sectorielles conjointes</a:t>
            </a:r>
          </a:p>
          <a:p>
            <a:pPr marL="0" indent="0">
              <a:buNone/>
            </a:pPr>
            <a:r>
              <a:rPr lang="fr-FR" b="1" cap="all" dirty="0"/>
              <a:t>3.  </a:t>
            </a:r>
            <a:r>
              <a:rPr lang="fr-FR" sz="2400" b="1" cap="all" dirty="0"/>
              <a:t>L’évaluation du </a:t>
            </a:r>
            <a:r>
              <a:rPr lang="fr-FR" sz="2400" b="1" cap="all" dirty="0" err="1"/>
              <a:t>pse</a:t>
            </a:r>
            <a:endParaRPr lang="fr-FR" sz="2400" b="1" cap="all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/>
              <a:t> Les Indicateurs clés de performance</a:t>
            </a:r>
          </a:p>
          <a:p>
            <a:pPr marL="0" indent="0">
              <a:buNone/>
            </a:pPr>
            <a:r>
              <a:rPr lang="fr-FR" b="1" cap="all" dirty="0"/>
              <a:t>4.  </a:t>
            </a:r>
            <a:r>
              <a:rPr lang="fr-FR" sz="2400" b="1" cap="all" dirty="0"/>
              <a:t>analyse des risques de mise en œuvre et mesures de prévention</a:t>
            </a:r>
          </a:p>
          <a:p>
            <a:endParaRPr lang="fr-FR" b="1" dirty="0"/>
          </a:p>
          <a:p>
            <a:pPr lvl="1"/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39615" y="1029384"/>
            <a:ext cx="1021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Ce chapitre traite des aspects suivants 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852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331699" cy="6381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28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2800" b="1" cap="all" dirty="0">
                <a:solidFill>
                  <a:srgbClr val="00B050"/>
                </a:solidFill>
              </a:rPr>
              <a:t>CHAPITRE 5 : pilotage, COORDINATION et SUIVI - évaluation du PSE</a:t>
            </a:r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615" y="1892300"/>
            <a:ext cx="11429999" cy="4534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L’élaboration du premier PSE 2010 – 2020 a donné naissance en 2012 au </a:t>
            </a:r>
            <a:r>
              <a:rPr lang="fr-FR" b="1" dirty="0">
                <a:solidFill>
                  <a:srgbClr val="C00000"/>
                </a:solidFill>
              </a:rPr>
              <a:t>Décret N° 2012-007/PR du 07 mars 2012 </a:t>
            </a:r>
            <a:r>
              <a:rPr lang="fr-FR" dirty="0"/>
              <a:t>qui définit les organes transversaux de pilotage. Ces organes se situent aux niveaux central et déconcentré. </a:t>
            </a:r>
            <a:endParaRPr lang="fr-FR" sz="3200" dirty="0"/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 </a:t>
            </a:r>
            <a:r>
              <a:rPr lang="fr-FR" sz="3200" b="1" dirty="0">
                <a:solidFill>
                  <a:srgbClr val="7030A0"/>
                </a:solidFill>
              </a:rPr>
              <a:t>Au niveau central </a:t>
            </a:r>
            <a:r>
              <a:rPr lang="fr-FR" sz="3200" b="1" dirty="0"/>
              <a:t>:  </a:t>
            </a:r>
            <a:endParaRPr lang="fr-FR" sz="3600" b="1" dirty="0"/>
          </a:p>
          <a:p>
            <a:pPr marL="533400" lvl="0" indent="215900"/>
            <a:r>
              <a:rPr lang="fr-FR" sz="3200" dirty="0"/>
              <a:t>le Comité sectoriel de pilotage (CSP) ;</a:t>
            </a:r>
            <a:endParaRPr lang="fr-FR" sz="3600" dirty="0"/>
          </a:p>
          <a:p>
            <a:pPr marL="533400" lvl="0" indent="215900"/>
            <a:r>
              <a:rPr lang="fr-FR" sz="3200" dirty="0"/>
              <a:t>le Secrétariat technique permanent (STP) ;</a:t>
            </a:r>
            <a:endParaRPr lang="fr-FR" sz="3600" dirty="0"/>
          </a:p>
          <a:p>
            <a:pPr marL="533400" lvl="0" indent="215900"/>
            <a:r>
              <a:rPr lang="fr-FR" sz="3200" dirty="0"/>
              <a:t>les Comités ministériels de coordination et de suivi (CMCS). </a:t>
            </a:r>
            <a:endParaRPr lang="fr-FR" sz="3600" dirty="0"/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4" name="ZoneTexte 3"/>
          <p:cNvSpPr txBox="1"/>
          <p:nvPr/>
        </p:nvSpPr>
        <p:spPr>
          <a:xfrm>
            <a:off x="439615" y="1029384"/>
            <a:ext cx="1021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Le dispositif de pilotage du PSE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7575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331699" cy="6381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28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2800" b="1" cap="all" dirty="0">
                <a:solidFill>
                  <a:srgbClr val="00B050"/>
                </a:solidFill>
              </a:rPr>
              <a:t>CHAPITRE 5 : pilotage, COORDINATION et SUIVI - évaluation du PSE</a:t>
            </a:r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615" y="1778000"/>
            <a:ext cx="11429999" cy="4763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7030A0"/>
                </a:solidFill>
              </a:rPr>
              <a:t> </a:t>
            </a:r>
            <a:r>
              <a:rPr lang="fr-FR" sz="3200" b="1" dirty="0">
                <a:solidFill>
                  <a:srgbClr val="7030A0"/>
                </a:solidFill>
              </a:rPr>
              <a:t>Au niveau déconcentré :</a:t>
            </a:r>
            <a:endParaRPr lang="fr-FR" sz="36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fr-FR" dirty="0"/>
              <a:t>Les organes se rapportent essentiellement à l’enseignement pré-universitaire et à l’alphabétisation avec : </a:t>
            </a:r>
            <a:endParaRPr lang="fr-FR" sz="3200" dirty="0"/>
          </a:p>
          <a:p>
            <a:pPr marL="901700" lvl="0"/>
            <a:r>
              <a:rPr lang="fr-FR" sz="3200" dirty="0"/>
              <a:t>les comités régionaux de coordination et de suivi (CRCS), </a:t>
            </a:r>
            <a:endParaRPr lang="fr-FR" sz="3600" dirty="0"/>
          </a:p>
          <a:p>
            <a:pPr marL="901700" lvl="0"/>
            <a:r>
              <a:rPr lang="fr-FR" sz="3200" dirty="0"/>
              <a:t>les comités locaux d’éducation (CLE) </a:t>
            </a:r>
            <a:endParaRPr lang="fr-FR" sz="3600" dirty="0"/>
          </a:p>
          <a:p>
            <a:pPr marL="901700" lvl="0"/>
            <a:r>
              <a:rPr lang="fr-FR" sz="3200" dirty="0"/>
              <a:t>les comités de gestion (CG) des écoles, collèges, lycées, centres de formation professionnelle et centres d’alphabétisation.</a:t>
            </a:r>
            <a:endParaRPr lang="fr-FR" sz="3600" dirty="0"/>
          </a:p>
          <a:p>
            <a:pPr lvl="1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528515" y="1029384"/>
            <a:ext cx="1021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Le dispositif de pilotage du PSE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927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88925"/>
            <a:ext cx="12331699" cy="6381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2800" b="1" cap="all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fr-FR" sz="2800" b="1" cap="all" dirty="0">
                <a:solidFill>
                  <a:srgbClr val="00B050"/>
                </a:solidFill>
              </a:rPr>
              <a:t>CHAPITRE 5 : pilotage, COORDINATION et SUIVI - évaluation du PSE</a:t>
            </a:r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615" y="1778000"/>
            <a:ext cx="11429999" cy="4763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7030A0"/>
                </a:solidFill>
              </a:rPr>
              <a:t> </a:t>
            </a:r>
            <a:endParaRPr lang="fr-F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3200" dirty="0"/>
              <a:t> </a:t>
            </a:r>
            <a:r>
              <a:rPr lang="fr-FR" sz="3200" b="1" dirty="0"/>
              <a:t>Le Groupe Local Education </a:t>
            </a:r>
            <a:r>
              <a:rPr lang="fr-FR" sz="3200" dirty="0"/>
              <a:t> (réunions trimestrielles)</a:t>
            </a:r>
          </a:p>
          <a:p>
            <a:pPr marL="457200" lvl="1" indent="0">
              <a:buNone/>
            </a:pPr>
            <a:endParaRPr lang="fr-FR" sz="3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3200" dirty="0"/>
              <a:t> </a:t>
            </a:r>
            <a:r>
              <a:rPr lang="fr-FR" sz="3200" b="1" dirty="0"/>
              <a:t>Les groupes thématiques du GLE </a:t>
            </a:r>
            <a:r>
              <a:rPr lang="fr-FR" sz="3200" dirty="0"/>
              <a:t>( 4 existent : Education inclusive / Gouvernance participative / Violences en milieu scolaire / Planification et statistiques de l’éducation)</a:t>
            </a:r>
          </a:p>
          <a:p>
            <a:pPr marL="457200" lvl="1" indent="0">
              <a:buNone/>
            </a:pPr>
            <a:endParaRPr lang="fr-FR" sz="3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3200" dirty="0"/>
              <a:t> </a:t>
            </a:r>
            <a:r>
              <a:rPr lang="fr-FR" sz="3200" b="1" dirty="0"/>
              <a:t>Les revues sectorielles conjointes </a:t>
            </a:r>
            <a:r>
              <a:rPr lang="fr-FR" sz="3200" dirty="0"/>
              <a:t>(organisées annuellement)</a:t>
            </a:r>
          </a:p>
          <a:p>
            <a:pPr marL="0" indent="0">
              <a:buNone/>
            </a:pPr>
            <a:endParaRPr lang="fr-FR" sz="3200" dirty="0"/>
          </a:p>
          <a:p>
            <a:pPr marL="457200" lvl="1" indent="0">
              <a:buNone/>
            </a:pP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439615" y="1193225"/>
            <a:ext cx="1021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Les organes de suivi du PSE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13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001" y="228600"/>
            <a:ext cx="11480800" cy="594836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Le PSE s’achève par </a:t>
            </a:r>
            <a:r>
              <a:rPr lang="fr-FR" b="1" dirty="0">
                <a:solidFill>
                  <a:srgbClr val="7030A0"/>
                </a:solidFill>
              </a:rPr>
              <a:t>un tableau des indicateurs de suivi </a:t>
            </a:r>
            <a:r>
              <a:rPr lang="fr-FR" dirty="0"/>
              <a:t>de la mise en œuvre pour tous les niveaux d’enseignement.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37</a:t>
            </a:fld>
            <a:endParaRPr lang="fr-FR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82225"/>
              </p:ext>
            </p:extLst>
          </p:nvPr>
        </p:nvGraphicFramePr>
        <p:xfrm>
          <a:off x="381000" y="1181097"/>
          <a:ext cx="11480801" cy="5397504"/>
        </p:xfrm>
        <a:graphic>
          <a:graphicData uri="http://schemas.openxmlformats.org/drawingml/2006/table">
            <a:tbl>
              <a:tblPr firstRow="1" firstCol="1" bandRow="1"/>
              <a:tblGrid>
                <a:gridCol w="3719854">
                  <a:extLst>
                    <a:ext uri="{9D8B030D-6E8A-4147-A177-3AD203B41FA5}">
                      <a16:colId xmlns:a16="http://schemas.microsoft.com/office/drawing/2014/main" val="3713196949"/>
                    </a:ext>
                  </a:extLst>
                </a:gridCol>
                <a:gridCol w="1133199">
                  <a:extLst>
                    <a:ext uri="{9D8B030D-6E8A-4147-A177-3AD203B41FA5}">
                      <a16:colId xmlns:a16="http://schemas.microsoft.com/office/drawing/2014/main" val="3825248515"/>
                    </a:ext>
                  </a:extLst>
                </a:gridCol>
                <a:gridCol w="1133199">
                  <a:extLst>
                    <a:ext uri="{9D8B030D-6E8A-4147-A177-3AD203B41FA5}">
                      <a16:colId xmlns:a16="http://schemas.microsoft.com/office/drawing/2014/main" val="3745916913"/>
                    </a:ext>
                  </a:extLst>
                </a:gridCol>
                <a:gridCol w="1067507">
                  <a:extLst>
                    <a:ext uri="{9D8B030D-6E8A-4147-A177-3AD203B41FA5}">
                      <a16:colId xmlns:a16="http://schemas.microsoft.com/office/drawing/2014/main" val="381595867"/>
                    </a:ext>
                  </a:extLst>
                </a:gridCol>
                <a:gridCol w="152087">
                  <a:extLst>
                    <a:ext uri="{9D8B030D-6E8A-4147-A177-3AD203B41FA5}">
                      <a16:colId xmlns:a16="http://schemas.microsoft.com/office/drawing/2014/main" val="135654610"/>
                    </a:ext>
                  </a:extLst>
                </a:gridCol>
                <a:gridCol w="1072434">
                  <a:extLst>
                    <a:ext uri="{9D8B030D-6E8A-4147-A177-3AD203B41FA5}">
                      <a16:colId xmlns:a16="http://schemas.microsoft.com/office/drawing/2014/main" val="272967323"/>
                    </a:ext>
                  </a:extLst>
                </a:gridCol>
                <a:gridCol w="1067507">
                  <a:extLst>
                    <a:ext uri="{9D8B030D-6E8A-4147-A177-3AD203B41FA5}">
                      <a16:colId xmlns:a16="http://schemas.microsoft.com/office/drawing/2014/main" val="1763577394"/>
                    </a:ext>
                  </a:extLst>
                </a:gridCol>
                <a:gridCol w="1067507">
                  <a:extLst>
                    <a:ext uri="{9D8B030D-6E8A-4147-A177-3AD203B41FA5}">
                      <a16:colId xmlns:a16="http://schemas.microsoft.com/office/drawing/2014/main" val="2894352693"/>
                    </a:ext>
                  </a:extLst>
                </a:gridCol>
                <a:gridCol w="1067507">
                  <a:extLst>
                    <a:ext uri="{9D8B030D-6E8A-4147-A177-3AD203B41FA5}">
                      <a16:colId xmlns:a16="http://schemas.microsoft.com/office/drawing/2014/main" val="320306039"/>
                    </a:ext>
                  </a:extLst>
                </a:gridCol>
              </a:tblGrid>
              <a:tr h="207822">
                <a:tc>
                  <a:txBody>
                    <a:bodyPr/>
                    <a:lstStyle/>
                    <a:p>
                      <a:endParaRPr lang="fr-FR" sz="9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55" marR="3945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2028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2030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274697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2019-2020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2020-2021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2021-2022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2022-2023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2025-2026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2027-2028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2029-2030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716253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Préscolaire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94458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couverture préscolaire 4-5 ans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50,0%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866308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Effectif préscolaire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171555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179858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188610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197505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224756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245163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266349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392573"/>
                  </a:ext>
                </a:extLst>
              </a:tr>
              <a:tr h="2573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filles scolarisées au préscolaire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541700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d’enfants scolarisés dans le privé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674057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Nombre d'éducateurs/trices fonctionnaires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1 963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2 262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2 589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2 940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4 143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5 114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6 215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821767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Nombre d'élèves par salle dans le public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303332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Primaire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fr-FR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8120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Nombre d'élèves scolarisés au primaire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1 684 275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1 707 479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1 711 572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1 695 962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1 601 449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1 600 671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1 640 612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46883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filles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49,1%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49,2%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779508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d'accès au CP1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111,0%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344099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d’accès des filles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436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brut de scolarisation (TBS) Primaire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128,5%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128,5%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127,0%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124,1%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14551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TBS Filles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119,8%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118,8%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117,8%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116,8%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111,7%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374909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au CP1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6,2%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043487"/>
                  </a:ext>
                </a:extLst>
              </a:tr>
              <a:tr h="1939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au CP2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10,5%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47152"/>
                  </a:ext>
                </a:extLst>
              </a:tr>
              <a:tr h="1939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au CE1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10005"/>
                  </a:ext>
                </a:extLst>
              </a:tr>
              <a:tr h="1939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au CE2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151181"/>
                  </a:ext>
                </a:extLst>
              </a:tr>
              <a:tr h="1939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au CM1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588192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redoublement CM2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661760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d'achèvement Primaire (TAP)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104,1%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118,4%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122,9%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101,5%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01841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d'achèvement Primaire Filles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90,6%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95,3%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98,4%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101,5%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889862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réussite au CEPD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86,0%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96,0%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100,0%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541962"/>
                  </a:ext>
                </a:extLst>
              </a:tr>
              <a:tr h="207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Taux de réussite des filles au CEPD 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74,7%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79,8%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82,3%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94,9%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fr-FR" sz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100,0%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39455" marR="394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7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649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32450" y="1409699"/>
            <a:ext cx="5238750" cy="4170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6000" b="1" dirty="0">
                <a:solidFill>
                  <a:schemeClr val="accent1">
                    <a:lumMod val="75000"/>
                  </a:schemeClr>
                </a:solidFill>
              </a:rPr>
              <a:t>MERCI </a:t>
            </a:r>
          </a:p>
          <a:p>
            <a:pPr marL="0" indent="0" algn="ctr">
              <a:buNone/>
            </a:pPr>
            <a:r>
              <a:rPr lang="fr-FR" sz="6000" b="1" dirty="0">
                <a:solidFill>
                  <a:schemeClr val="accent1">
                    <a:lumMod val="75000"/>
                  </a:schemeClr>
                </a:solidFill>
              </a:rPr>
              <a:t>DE VOTRE AIMABLE ATTENTION.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10DC-0A60-41E9-9534-886F7AD3FE30}" type="slidenum">
              <a:rPr lang="fr-FR" smtClean="0"/>
              <a:t>38</a:t>
            </a:fld>
            <a:endParaRPr lang="fr-FR"/>
          </a:p>
        </p:txBody>
      </p:sp>
      <p:pic>
        <p:nvPicPr>
          <p:cNvPr id="6" name="Image 5" descr="G:\page de garde PS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0050"/>
            <a:ext cx="4330700" cy="595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1849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3562</Words>
  <Application>Microsoft Office PowerPoint</Application>
  <PresentationFormat>Grand écran</PresentationFormat>
  <Paragraphs>655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Wingdings</vt:lpstr>
      <vt:lpstr>Thème Office</vt:lpstr>
      <vt:lpstr>Plan sectoriel de l’éducation du TOGO  2020-2030</vt:lpstr>
      <vt:lpstr> Plan de la présentation</vt:lpstr>
      <vt:lpstr> 1- Le contexte de révision du PSE</vt:lpstr>
      <vt:lpstr> 1- Le contexte de révision du PSE</vt:lpstr>
      <vt:lpstr> 1- Le contexte de révision du PSE</vt:lpstr>
      <vt:lpstr>Présentation PowerPoint</vt:lpstr>
      <vt:lpstr> 2- Le processus de révision du PSE</vt:lpstr>
      <vt:lpstr> 3- Les documents de référence</vt:lpstr>
      <vt:lpstr> 3- Les documents de référence</vt:lpstr>
      <vt:lpstr> 4- Les cinq chapitres du PSE</vt:lpstr>
      <vt:lpstr>Chapitre 1: ELEMENTS DE DIAGNOSTIC DU SYSTEME EDUCATIF</vt:lpstr>
      <vt:lpstr>Chapitre 1: ELEMENTS DE DIAGNOSTIC DU SYSTEME EDUCATIF</vt:lpstr>
      <vt:lpstr>Chapitre 1: ELEMENTS DE DIAGNOSTIC DU SYSTEME EDUCATIF</vt:lpstr>
      <vt:lpstr>Chapitre 1: ELEMENTS DE DIAGNOSTIC DU SYSTEME EDUCATIF</vt:lpstr>
      <vt:lpstr>Chapitre 1: ELEMENTS DE DIAGNOSTIC DU SYSTEME EDUCATIF</vt:lpstr>
      <vt:lpstr>Chapitre 2 : LES GRANDS AXES ET LES PRINCIPES DIRECTEURS DU PSE</vt:lpstr>
      <vt:lpstr> Chapitre 2 : LES GRANDS AXES ET LES PRINCIPES DIRECTEURS DU PSE</vt:lpstr>
      <vt:lpstr> Chapitre 2 : LES GRANDS AXES ET LES PRINCIPES DIRECTEURS DU PSE</vt:lpstr>
      <vt:lpstr> Chapitre 2 : LES GRANDS AXES ET LES PRINCIPES DIRECTEURS DU PSE</vt:lpstr>
      <vt:lpstr>Chapitre 2 : LES GRANDS AXES ET LES PRINCIPES DIRECTEURS DU PSE</vt:lpstr>
      <vt:lpstr> CHAPITRE 3 : LES STRATEGIES SECTORIELLES</vt:lpstr>
      <vt:lpstr>   L’éducation préscolaire </vt:lpstr>
      <vt:lpstr>   L’enseignement primaire </vt:lpstr>
      <vt:lpstr>   L’enseignement secondaire général - Cycles 1 &amp; 2</vt:lpstr>
      <vt:lpstr>   L’enseignement technique et la formation professionnelle</vt:lpstr>
      <vt:lpstr>   L’alphabétisation et l’éducation non formelle</vt:lpstr>
      <vt:lpstr>   L’enseignement supérieur et la recherche</vt:lpstr>
      <vt:lpstr> Le Cadre logique du PSE </vt:lpstr>
      <vt:lpstr> chapitre 4 : Coûts et Financements</vt:lpstr>
      <vt:lpstr> chapitre 4 : Coûts et Financements</vt:lpstr>
      <vt:lpstr> chapitre 4 : Coûts et Financements</vt:lpstr>
      <vt:lpstr> chapitre 4 : Coûts et Financements</vt:lpstr>
      <vt:lpstr> CHAPITRE 5 : pilotage, COORDINATION et SUIVI - évaluation du PSE</vt:lpstr>
      <vt:lpstr> CHAPITRE 5 : pilotage, COORDINATION et SUIVI - évaluation du PSE</vt:lpstr>
      <vt:lpstr> CHAPITRE 5 : pilotage, COORDINATION et SUIVI - évaluation du PSE</vt:lpstr>
      <vt:lpstr> CHAPITRE 5 : pilotage, COORDINATION et SUIVI - évaluation du PSE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sectoriel de l’éducation du TOGO 2020-2030</dc:title>
  <dc:creator>Mathias ADEDJE</dc:creator>
  <cp:lastModifiedBy>ENVY</cp:lastModifiedBy>
  <cp:revision>151</cp:revision>
  <dcterms:created xsi:type="dcterms:W3CDTF">2020-06-11T11:20:22Z</dcterms:created>
  <dcterms:modified xsi:type="dcterms:W3CDTF">2025-09-17T21:29:55Z</dcterms:modified>
</cp:coreProperties>
</file>